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59" r:id="rId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2252" autoAdjust="0"/>
  </p:normalViewPr>
  <p:slideViewPr>
    <p:cSldViewPr snapToGrid="0">
      <p:cViewPr varScale="1">
        <p:scale>
          <a:sx n="102" d="100"/>
          <a:sy n="102" d="100"/>
        </p:scale>
        <p:origin x="31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5602D0-FF41-4D49-A955-F7EE866B75F3}" type="datetimeFigureOut">
              <a:rPr lang="fr-FR" smtClean="0"/>
              <a:t>09/02/2026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62EB9C-E478-46C8-84F9-1593A778206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21340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2EB9C-E478-46C8-84F9-1593A7782067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99935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08DF2-30F3-A1C7-79B1-10EACBBAB6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837386-1E54-6F38-53AE-E9CF753210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5D3602-F04F-43AF-8680-81E886688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04255-0DE3-435A-9C7B-A5865C59DE9A}" type="datetimeFigureOut">
              <a:rPr lang="fr-FR" smtClean="0"/>
              <a:t>09/02/2026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31AF5B-2436-20D5-12A4-43A9472BC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BBB93D-C776-6E52-EB89-42FEC0F62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901AB-2E36-464C-BC3B-BE9F6CC9A64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1470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E1335-8335-49F0-C498-F6121DAF4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7307FA-C974-2F7C-3B27-64A692E785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B68186-50B3-BBD9-B047-5171C93CC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04255-0DE3-435A-9C7B-A5865C59DE9A}" type="datetimeFigureOut">
              <a:rPr lang="fr-FR" smtClean="0"/>
              <a:t>09/02/2026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EEDCA9-BA21-5674-FC06-A245C85BE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3E8BDB-7FB4-176F-9DCA-27F3E7F75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901AB-2E36-464C-BC3B-BE9F6CC9A64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14990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84D18-1466-85A8-8DD7-15D6CA746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C8584F-94AC-67C5-E0DB-D02F4BA438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5E409D-1270-9E77-44B7-A3E42C169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04255-0DE3-435A-9C7B-A5865C59DE9A}" type="datetimeFigureOut">
              <a:rPr lang="fr-FR" smtClean="0"/>
              <a:t>09/02/2026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DC5A68-A424-1573-08A8-842EAC971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1A91B-C381-08CF-D114-0473A0F44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901AB-2E36-464C-BC3B-BE9F6CC9A64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4153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0384B-16CE-E298-8493-049D175B7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069E46-D3FE-3062-49D5-1C9C40450F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FD91AF-7D6A-9590-1A45-F4F7C6C9ED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8D617E-D386-F361-6F80-B128A951D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04255-0DE3-435A-9C7B-A5865C59DE9A}" type="datetimeFigureOut">
              <a:rPr lang="fr-FR" smtClean="0"/>
              <a:t>09/02/2026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453777-6631-9055-D274-CB1BEDC17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1908CF-11AD-8A1E-489C-66A7758AE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901AB-2E36-464C-BC3B-BE9F6CC9A64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3763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F36E4-A7B5-FA00-A16C-F0E1BF995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E68B8B-C382-D201-7602-BBF85905C8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FB719E-4C69-E3BC-10E4-878084F711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4155B8-EF37-84A2-79A1-39F564877F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8AC8A8-3591-41C2-FF30-9237C5734D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906A8A-FE5B-00E9-1B19-2A39D92A2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04255-0DE3-435A-9C7B-A5865C59DE9A}" type="datetimeFigureOut">
              <a:rPr lang="fr-FR" smtClean="0"/>
              <a:t>09/02/2026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CACB5E-9781-E560-A70F-FFAC009C3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2F634A-4000-BB33-FC39-FC2420AAA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901AB-2E36-464C-BC3B-BE9F6CC9A64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2008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DC453-FAC7-9578-D970-4590C8FAA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DFA4F5-2436-EF05-E6E6-81574A8B8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04255-0DE3-435A-9C7B-A5865C59DE9A}" type="datetimeFigureOut">
              <a:rPr lang="fr-FR" smtClean="0"/>
              <a:t>09/02/2026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EE62DA-5881-0EC4-2ECF-705F710E5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325AE0-0F02-F804-B744-1A5924569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901AB-2E36-464C-BC3B-BE9F6CC9A64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2957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A87248-D506-94B5-F51C-BFF535561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04255-0DE3-435A-9C7B-A5865C59DE9A}" type="datetimeFigureOut">
              <a:rPr lang="fr-FR" smtClean="0"/>
              <a:t>09/02/2026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087B83-59D5-7D8B-8ABB-019001FC2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D7D576-0CC6-4DB9-707B-DC0AF2FBD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901AB-2E36-464C-BC3B-BE9F6CC9A64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2394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8DC44-B68D-B634-AFAC-9FA3C89D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C5FA1A-88C0-ABC9-E621-429F8543BD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676DF9-E5FB-9186-C54E-EFA7EF6671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338C3E-8182-E1BF-6F75-221F79422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04255-0DE3-435A-9C7B-A5865C59DE9A}" type="datetimeFigureOut">
              <a:rPr lang="fr-FR" smtClean="0"/>
              <a:t>09/02/2026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26144C-E634-BCF4-2D0D-6C04C86A4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DBDDBF-3BCA-EB68-A96F-A7E1DA3D2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901AB-2E36-464C-BC3B-BE9F6CC9A64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60230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B9E51-F9D7-3577-64AA-110D6E6B4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DA40B5-C684-603D-B69B-7756CBF9B3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4831B8-9872-6D9D-8724-6AD3640432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115094-820A-9C79-970E-E258A463E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04255-0DE3-435A-9C7B-A5865C59DE9A}" type="datetimeFigureOut">
              <a:rPr lang="fr-FR" smtClean="0"/>
              <a:t>09/02/2026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DFB649-4F08-2A7C-5C6F-A9977D2E5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F2645B-C384-DFFE-379C-1DCDCEF22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901AB-2E36-464C-BC3B-BE9F6CC9A64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8616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A3B4A-3A91-8EC8-C820-00B28892F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5F000F-E989-4BEA-7E90-61B67E21E6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9C7B72-FFF4-A4E2-A2A7-3A8B4098F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04255-0DE3-435A-9C7B-A5865C59DE9A}" type="datetimeFigureOut">
              <a:rPr lang="fr-FR" smtClean="0"/>
              <a:t>09/02/2026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515C2E-4580-B7AC-CA4E-30840B8D9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D8D055-DC90-DBAC-6F89-65D84CE9F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901AB-2E36-464C-BC3B-BE9F6CC9A64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1158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1F7EB7-FCE8-0BD9-D4F7-475AB12E46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6847BF-B694-9E4B-262E-9A3203A392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72A72D-803E-6258-A84F-CE55F4955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04255-0DE3-435A-9C7B-A5865C59DE9A}" type="datetimeFigureOut">
              <a:rPr lang="fr-FR" smtClean="0"/>
              <a:t>09/02/2026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4A077F-6B40-90E8-306D-A3A910D57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C93756-A47C-4975-9FA0-D7D03338A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901AB-2E36-464C-BC3B-BE9F6CC9A64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81142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2054A1-94E2-167F-8708-2DF22C34D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718493-43D9-6662-44B7-4EF37266DE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70CE7F-EDF8-A030-7264-2F07538D2E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C04255-0DE3-435A-9C7B-A5865C59DE9A}" type="datetimeFigureOut">
              <a:rPr lang="fr-FR" smtClean="0"/>
              <a:t>09/02/2026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8D6FB4-867E-33FA-9241-A404FBDD30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FD6766-B310-A9D5-4CCF-25BCC89437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F901AB-2E36-464C-BC3B-BE9F6CC9A64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15145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56F029-578B-B057-92B3-AC1C8D97DD0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9"/>
          <a:stretch>
            <a:fillRect/>
          </a:stretch>
        </p:blipFill>
        <p:spPr>
          <a:xfrm>
            <a:off x="20" y="10"/>
            <a:ext cx="1218893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A439A66-7617-F9BF-6ED1-7A457DBB9D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63240"/>
          </a:xfrm>
        </p:spPr>
        <p:txBody>
          <a:bodyPr>
            <a:normAutofit fontScale="90000"/>
          </a:bodyPr>
          <a:lstStyle/>
          <a:p>
            <a:r>
              <a:rPr lang="en-US" sz="6600" dirty="0">
                <a:solidFill>
                  <a:schemeClr val="bg1"/>
                </a:solidFill>
              </a:rPr>
              <a:t>Safety at the heart of student life.</a:t>
            </a:r>
            <a:br>
              <a:rPr lang="en-US" sz="6600" dirty="0">
                <a:solidFill>
                  <a:schemeClr val="bg1"/>
                </a:solidFill>
              </a:rPr>
            </a:br>
            <a:br>
              <a:rPr lang="fr-FR" sz="6600" dirty="0">
                <a:solidFill>
                  <a:schemeClr val="bg1"/>
                </a:solidFill>
              </a:rPr>
            </a:br>
            <a:r>
              <a:rPr lang="en-US" sz="3200" dirty="0">
                <a:solidFill>
                  <a:schemeClr val="bg1"/>
                </a:solidFill>
              </a:rPr>
              <a:t>A protective environment for every student</a:t>
            </a:r>
            <a:endParaRPr lang="fr-FR" sz="6600" dirty="0">
              <a:solidFill>
                <a:schemeClr val="bg1"/>
              </a:solidFill>
            </a:endParaRP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9D83E558-77E8-D65A-B684-535AE2A034B9}"/>
              </a:ext>
            </a:extLst>
          </p:cNvPr>
          <p:cNvSpPr txBox="1"/>
          <p:nvPr/>
        </p:nvSpPr>
        <p:spPr>
          <a:xfrm>
            <a:off x="5512695" y="4451651"/>
            <a:ext cx="2705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dirty="0">
                <a:solidFill>
                  <a:schemeClr val="bg1"/>
                </a:solidFill>
              </a:rPr>
              <a:t>Baptiste Bossuet</a:t>
            </a:r>
          </a:p>
          <a:p>
            <a:pPr algn="r"/>
            <a:r>
              <a:rPr lang="fr-FR" dirty="0">
                <a:solidFill>
                  <a:schemeClr val="bg1"/>
                </a:solidFill>
              </a:rPr>
              <a:t>Estelle Girault</a:t>
            </a:r>
          </a:p>
        </p:txBody>
      </p:sp>
    </p:spTree>
    <p:extLst>
      <p:ext uri="{BB962C8B-B14F-4D97-AF65-F5344CB8AC3E}">
        <p14:creationId xmlns:p14="http://schemas.microsoft.com/office/powerpoint/2010/main" val="18438371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42D318-8D09-93DD-307B-A16BB79E5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fr-FR" sz="4000" dirty="0">
                <a:solidFill>
                  <a:srgbClr val="FFFFFF"/>
                </a:solidFill>
              </a:rPr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0499BA-5DF0-8F4C-C17B-41F7348999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fr-FR" sz="3200" dirty="0"/>
              <a:t>Introduction </a:t>
            </a:r>
          </a:p>
          <a:p>
            <a:r>
              <a:rPr lang="fr-FR" sz="3200" dirty="0" err="1"/>
              <a:t>Development</a:t>
            </a:r>
            <a:r>
              <a:rPr lang="fr-FR" sz="3200" dirty="0"/>
              <a:t> :</a:t>
            </a:r>
            <a:br>
              <a:rPr lang="fr-FR" sz="3200" dirty="0"/>
            </a:br>
            <a:r>
              <a:rPr lang="fr-FR" sz="3200" dirty="0"/>
              <a:t>- </a:t>
            </a:r>
            <a:r>
              <a:rPr lang="en-US" sz="3200" dirty="0"/>
              <a:t>School travel</a:t>
            </a:r>
            <a:br>
              <a:rPr lang="en-US" sz="3200" dirty="0"/>
            </a:br>
            <a:r>
              <a:rPr lang="en-US" sz="3200" dirty="0"/>
              <a:t>- Intrusion security</a:t>
            </a:r>
            <a:br>
              <a:rPr lang="en-US" sz="3200" dirty="0"/>
            </a:br>
            <a:r>
              <a:rPr lang="en-US" sz="3200" dirty="0"/>
              <a:t>- Fire safety</a:t>
            </a:r>
            <a:br>
              <a:rPr lang="en-US" sz="3200" dirty="0"/>
            </a:br>
            <a:r>
              <a:rPr lang="en-US" sz="3200" dirty="0"/>
              <a:t>- Food/hygiene safety</a:t>
            </a:r>
            <a:br>
              <a:rPr lang="en-US" sz="3200" dirty="0"/>
            </a:br>
            <a:r>
              <a:rPr lang="en-US" sz="3200" dirty="0"/>
              <a:t>- Mental health</a:t>
            </a:r>
            <a:endParaRPr lang="fr-FR" sz="3200" dirty="0"/>
          </a:p>
          <a:p>
            <a:r>
              <a:rPr lang="fr-FR" sz="3200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9758582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Rectangle 1032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37" name="Group 1036">
            <a:extLst>
              <a:ext uri="{FF2B5EF4-FFF2-40B4-BE49-F238E27FC236}">
                <a16:creationId xmlns:a16="http://schemas.microsoft.com/office/drawing/2014/main" id="{76B45835-3DB7-4D95-9290-E7C2C3AD13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038" name="Oval 1037">
              <a:extLst>
                <a:ext uri="{FF2B5EF4-FFF2-40B4-BE49-F238E27FC236}">
                  <a16:creationId xmlns:a16="http://schemas.microsoft.com/office/drawing/2014/main" id="{4BA86C3D-5E02-4EC9-A07B-6786E96EC2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9" name="Oval 1038">
              <a:extLst>
                <a:ext uri="{FF2B5EF4-FFF2-40B4-BE49-F238E27FC236}">
                  <a16:creationId xmlns:a16="http://schemas.microsoft.com/office/drawing/2014/main" id="{2A1BCCA4-FEFE-4004-9DD5-96DC53BFBF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0" name="Oval 1039">
              <a:extLst>
                <a:ext uri="{FF2B5EF4-FFF2-40B4-BE49-F238E27FC236}">
                  <a16:creationId xmlns:a16="http://schemas.microsoft.com/office/drawing/2014/main" id="{B9025533-FEDC-498B-B634-AACB9C5429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1" name="Oval 1040">
              <a:extLst>
                <a:ext uri="{FF2B5EF4-FFF2-40B4-BE49-F238E27FC236}">
                  <a16:creationId xmlns:a16="http://schemas.microsoft.com/office/drawing/2014/main" id="{4BCB9B21-6FC4-4E75-9B78-CBF710766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42" name="Oval 1041">
              <a:extLst>
                <a:ext uri="{FF2B5EF4-FFF2-40B4-BE49-F238E27FC236}">
                  <a16:creationId xmlns:a16="http://schemas.microsoft.com/office/drawing/2014/main" id="{265F2E95-7169-4456-9FD1-FD404A2B1B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3" name="Oval 1042">
              <a:extLst>
                <a:ext uri="{FF2B5EF4-FFF2-40B4-BE49-F238E27FC236}">
                  <a16:creationId xmlns:a16="http://schemas.microsoft.com/office/drawing/2014/main" id="{DC39C303-7680-46A4-83C1-D77C74DEAF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45" name="Rectangle 1044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47" name="Group 1046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1048" name="Straight Connector 1047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9" name="Straight Connector 1048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0" name="Straight Connector 1049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1" name="Straight Connector 1050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3" name="Rectangle 1052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55" name="Group 1054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1056" name="Straight Connector 1055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7" name="Straight Connector 1056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8" name="Straight Connector 1057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9" name="Straight Connector 1058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7D21E31-C890-E20B-0C6C-13D810C49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4779" y="373935"/>
            <a:ext cx="4550664" cy="1086934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School travel</a:t>
            </a:r>
          </a:p>
        </p:txBody>
      </p:sp>
      <p:pic>
        <p:nvPicPr>
          <p:cNvPr id="4" name="Picture 3" descr="The Bus Centre School Buses And Seatbelts">
            <a:extLst>
              <a:ext uri="{FF2B5EF4-FFF2-40B4-BE49-F238E27FC236}">
                <a16:creationId xmlns:a16="http://schemas.microsoft.com/office/drawing/2014/main" id="{20A34BAD-C5E7-DB01-B661-CA9D7DB5EA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692" r="2" b="2"/>
          <a:stretch>
            <a:fillRect/>
          </a:stretch>
        </p:blipFill>
        <p:spPr>
          <a:xfrm>
            <a:off x="365825" y="3006041"/>
            <a:ext cx="4573404" cy="3490370"/>
          </a:xfrm>
          <a:prstGeom prst="rect">
            <a:avLst/>
          </a:prstGeom>
        </p:spPr>
      </p:pic>
      <p:grpSp>
        <p:nvGrpSpPr>
          <p:cNvPr id="1061" name="Group 1060">
            <a:extLst>
              <a:ext uri="{FF2B5EF4-FFF2-40B4-BE49-F238E27FC236}">
                <a16:creationId xmlns:a16="http://schemas.microsoft.com/office/drawing/2014/main" id="{AF19A774-30A5-488B-9BAF-629C64402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2" y="482489"/>
            <a:ext cx="304800" cy="429768"/>
            <a:chOff x="215328" y="-46937"/>
            <a:chExt cx="304800" cy="2773841"/>
          </a:xfrm>
        </p:grpSpPr>
        <p:cxnSp>
          <p:nvCxnSpPr>
            <p:cNvPr id="1062" name="Straight Connector 1061">
              <a:extLst>
                <a:ext uri="{FF2B5EF4-FFF2-40B4-BE49-F238E27FC236}">
                  <a16:creationId xmlns:a16="http://schemas.microsoft.com/office/drawing/2014/main" id="{291EBF88-5B98-4258-A542-14C3AF2E5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3" name="Straight Connector 1062">
              <a:extLst>
                <a:ext uri="{FF2B5EF4-FFF2-40B4-BE49-F238E27FC236}">
                  <a16:creationId xmlns:a16="http://schemas.microsoft.com/office/drawing/2014/main" id="{8FBC2D58-9E3C-490D-BD7A-61EF07EA79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4" name="Straight Connector 1063">
              <a:extLst>
                <a:ext uri="{FF2B5EF4-FFF2-40B4-BE49-F238E27FC236}">
                  <a16:creationId xmlns:a16="http://schemas.microsoft.com/office/drawing/2014/main" id="{B6CF1BB4-1C1D-4EDE-BA26-0243FCF83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5" name="Straight Connector 1064">
              <a:extLst>
                <a:ext uri="{FF2B5EF4-FFF2-40B4-BE49-F238E27FC236}">
                  <a16:creationId xmlns:a16="http://schemas.microsoft.com/office/drawing/2014/main" id="{00C83729-E02F-4512-AFE7-F4792228BD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28" name="Picture 4" descr="Mort de Nahel : les premiers éléments de l'enquête">
            <a:extLst>
              <a:ext uri="{FF2B5EF4-FFF2-40B4-BE49-F238E27FC236}">
                <a16:creationId xmlns:a16="http://schemas.microsoft.com/office/drawing/2014/main" id="{8F464389-D22E-54F7-389D-F39C2B5CE49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29" r="2" b="2"/>
          <a:stretch>
            <a:fillRect/>
          </a:stretch>
        </p:blipFill>
        <p:spPr bwMode="auto">
          <a:xfrm>
            <a:off x="6076530" y="302124"/>
            <a:ext cx="5703762" cy="3322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4854BECA-0582-FC1A-D00C-14B7640A7E62}"/>
              </a:ext>
            </a:extLst>
          </p:cNvPr>
          <p:cNvSpPr txBox="1"/>
          <p:nvPr/>
        </p:nvSpPr>
        <p:spPr>
          <a:xfrm>
            <a:off x="6085426" y="3983133"/>
            <a:ext cx="5994666" cy="2129599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Students travel by bus, car, bike or on foot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Daily trips can be dangerous</a:t>
            </a:r>
            <a:br>
              <a:rPr lang="en-US" dirty="0">
                <a:solidFill>
                  <a:schemeClr val="bg1"/>
                </a:solidFill>
              </a:rPr>
            </a:b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Safety rules are essential !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8DEDFAAF-8EF0-6A9E-E989-BACF739C48DD}"/>
              </a:ext>
            </a:extLst>
          </p:cNvPr>
          <p:cNvSpPr txBox="1"/>
          <p:nvPr/>
        </p:nvSpPr>
        <p:spPr>
          <a:xfrm>
            <a:off x="1427004" y="2217565"/>
            <a:ext cx="35609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dirty="0" err="1">
                <a:solidFill>
                  <a:schemeClr val="bg1"/>
                </a:solidFill>
              </a:rPr>
              <a:t>Teachers</a:t>
            </a:r>
            <a:r>
              <a:rPr lang="fr-FR" dirty="0">
                <a:solidFill>
                  <a:schemeClr val="bg1"/>
                </a:solidFill>
              </a:rPr>
              <a:t> </a:t>
            </a:r>
            <a:r>
              <a:rPr lang="fr-FR" dirty="0" err="1">
                <a:solidFill>
                  <a:schemeClr val="bg1"/>
                </a:solidFill>
              </a:rPr>
              <a:t>ensure</a:t>
            </a:r>
            <a:r>
              <a:rPr lang="fr-FR" dirty="0">
                <a:solidFill>
                  <a:schemeClr val="bg1"/>
                </a:solidFill>
              </a:rPr>
              <a:t> </a:t>
            </a:r>
            <a:r>
              <a:rPr lang="fr-FR" dirty="0" err="1">
                <a:solidFill>
                  <a:schemeClr val="bg1"/>
                </a:solidFill>
              </a:rPr>
              <a:t>safety</a:t>
            </a:r>
            <a:endParaRPr lang="fr-FR" dirty="0">
              <a:solidFill>
                <a:schemeClr val="bg1"/>
              </a:solidFill>
            </a:endParaRPr>
          </a:p>
          <a:p>
            <a:pPr algn="r"/>
            <a:r>
              <a:rPr lang="fr-FR" dirty="0" err="1">
                <a:solidFill>
                  <a:schemeClr val="bg1"/>
                </a:solidFill>
              </a:rPr>
              <a:t>Students</a:t>
            </a:r>
            <a:r>
              <a:rPr lang="fr-FR" dirty="0">
                <a:solidFill>
                  <a:schemeClr val="bg1"/>
                </a:solidFill>
              </a:rPr>
              <a:t> must follow instructions</a:t>
            </a:r>
          </a:p>
        </p:txBody>
      </p:sp>
    </p:spTree>
    <p:extLst>
      <p:ext uri="{BB962C8B-B14F-4D97-AF65-F5344CB8AC3E}">
        <p14:creationId xmlns:p14="http://schemas.microsoft.com/office/powerpoint/2010/main" val="2538006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3AD874-5DE9-55AB-F48F-EC11BDA64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Intrusion security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32CCE07-6618-3BA5-FB86-6D8376CB0D82}"/>
              </a:ext>
            </a:extLst>
          </p:cNvPr>
          <p:cNvSpPr txBox="1"/>
          <p:nvPr/>
        </p:nvSpPr>
        <p:spPr>
          <a:xfrm>
            <a:off x="1176269" y="2425627"/>
            <a:ext cx="3291839" cy="8304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/>
              <a:t>Security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/>
              <a:t>Visual inspection of bags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49F31F-B5E4-ADF8-C056-AD2B5BA31A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088" b="17766"/>
          <a:stretch>
            <a:fillRect/>
          </a:stretch>
        </p:blipFill>
        <p:spPr>
          <a:xfrm>
            <a:off x="7247337" y="1957592"/>
            <a:ext cx="2879253" cy="2895600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E742FF67-B2CE-8C79-7EE0-C8BEE2EEDC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714" y="3609240"/>
            <a:ext cx="4244950" cy="289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972CC874-6BA9-F797-9384-79315C3C9DCF}"/>
              </a:ext>
            </a:extLst>
          </p:cNvPr>
          <p:cNvSpPr txBox="1"/>
          <p:nvPr/>
        </p:nvSpPr>
        <p:spPr>
          <a:xfrm>
            <a:off x="7791014" y="5057040"/>
            <a:ext cx="19907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/>
              <a:t>1. Vigilance</a:t>
            </a:r>
            <a:br>
              <a:rPr lang="fr-FR" sz="2000" dirty="0"/>
            </a:br>
            <a:r>
              <a:rPr lang="fr-FR" sz="2000" dirty="0"/>
              <a:t>2. Prevention</a:t>
            </a:r>
            <a:br>
              <a:rPr lang="fr-FR" sz="2000" dirty="0"/>
            </a:br>
            <a:r>
              <a:rPr lang="fr-FR" sz="2000" dirty="0"/>
              <a:t>3. Protection</a:t>
            </a:r>
          </a:p>
        </p:txBody>
      </p:sp>
    </p:spTree>
    <p:extLst>
      <p:ext uri="{BB962C8B-B14F-4D97-AF65-F5344CB8AC3E}">
        <p14:creationId xmlns:p14="http://schemas.microsoft.com/office/powerpoint/2010/main" val="42858194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65D48AAF-9AD8-1C94-D6A1-940565B40A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5468" y="4133644"/>
            <a:ext cx="4086532" cy="2724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171AF59C-E8E3-23E8-F7B2-1901012F60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133645"/>
            <a:ext cx="4343400" cy="2724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CAD93B39-025A-7EDA-F43B-9AA6F24301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2734" y="4133645"/>
            <a:ext cx="4086532" cy="2724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641A3FB-7E5A-01F7-C042-1124E6EDCC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-2"/>
            <a:ext cx="4086532" cy="2290712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 4" descr="Une image contenant cercle, Police, diagramme, symbole&#10;&#10;Le contenu généré par l’IA peut être incorrect.">
            <a:extLst>
              <a:ext uri="{FF2B5EF4-FFF2-40B4-BE49-F238E27FC236}">
                <a16:creationId xmlns:a16="http://schemas.microsoft.com/office/drawing/2014/main" id="{8D622246-85AF-35B6-FF2F-55DF306F884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135" t="9320" r="3682" b="6010"/>
          <a:stretch>
            <a:fillRect/>
          </a:stretch>
        </p:blipFill>
        <p:spPr>
          <a:xfrm>
            <a:off x="5687438" y="921464"/>
            <a:ext cx="4534292" cy="2290713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A7A14DB8-391B-95BF-D999-18FAD2793293}"/>
              </a:ext>
            </a:extLst>
          </p:cNvPr>
          <p:cNvSpPr txBox="1"/>
          <p:nvPr/>
        </p:nvSpPr>
        <p:spPr>
          <a:xfrm>
            <a:off x="666356" y="760633"/>
            <a:ext cx="306017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Fire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sz="44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safety</a:t>
            </a:r>
            <a:endParaRPr lang="fr-FR" sz="44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1888522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054">
            <a:extLst>
              <a:ext uri="{FF2B5EF4-FFF2-40B4-BE49-F238E27FC236}">
                <a16:creationId xmlns:a16="http://schemas.microsoft.com/office/drawing/2014/main" id="{17BD7CC6-2F7F-4587-8E92-D041AB2CEB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7" name="Rectangle 2056">
            <a:extLst>
              <a:ext uri="{FF2B5EF4-FFF2-40B4-BE49-F238E27FC236}">
                <a16:creationId xmlns:a16="http://schemas.microsoft.com/office/drawing/2014/main" id="{BE7ED1F4-19EF-4BC2-A6EA-DF1525142B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59" name="Group 2058">
            <a:extLst>
              <a:ext uri="{FF2B5EF4-FFF2-40B4-BE49-F238E27FC236}">
                <a16:creationId xmlns:a16="http://schemas.microsoft.com/office/drawing/2014/main" id="{0EE7C14F-442F-4416-A4A9-6DA10263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2060" name="Oval 2059">
              <a:extLst>
                <a:ext uri="{FF2B5EF4-FFF2-40B4-BE49-F238E27FC236}">
                  <a16:creationId xmlns:a16="http://schemas.microsoft.com/office/drawing/2014/main" id="{97AC4CCD-70AA-4916-97EA-D9C12FED17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1" name="Oval 2060">
              <a:extLst>
                <a:ext uri="{FF2B5EF4-FFF2-40B4-BE49-F238E27FC236}">
                  <a16:creationId xmlns:a16="http://schemas.microsoft.com/office/drawing/2014/main" id="{C5694289-EA59-4679-9DB4-0646321A8C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2" name="Oval 2061">
              <a:extLst>
                <a:ext uri="{FF2B5EF4-FFF2-40B4-BE49-F238E27FC236}">
                  <a16:creationId xmlns:a16="http://schemas.microsoft.com/office/drawing/2014/main" id="{32EDAD0A-6995-496D-9789-A34C66F5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3" name="Oval 2062">
              <a:extLst>
                <a:ext uri="{FF2B5EF4-FFF2-40B4-BE49-F238E27FC236}">
                  <a16:creationId xmlns:a16="http://schemas.microsoft.com/office/drawing/2014/main" id="{BCBBB211-248C-4F94-900A-80CD8D52F3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64" name="Oval 2063">
              <a:extLst>
                <a:ext uri="{FF2B5EF4-FFF2-40B4-BE49-F238E27FC236}">
                  <a16:creationId xmlns:a16="http://schemas.microsoft.com/office/drawing/2014/main" id="{48DCC953-87D5-419D-A529-94A9462512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5" name="Oval 2064">
              <a:extLst>
                <a:ext uri="{FF2B5EF4-FFF2-40B4-BE49-F238E27FC236}">
                  <a16:creationId xmlns:a16="http://schemas.microsoft.com/office/drawing/2014/main" id="{0F67D0B7-A0F4-47EB-8DF7-2630C056AB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67" name="Rectangle 2066">
            <a:extLst>
              <a:ext uri="{FF2B5EF4-FFF2-40B4-BE49-F238E27FC236}">
                <a16:creationId xmlns:a16="http://schemas.microsoft.com/office/drawing/2014/main" id="{A3919D60-F174-4FEB-9E9D-5AF6BD659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69" name="Group 2068">
            <a:extLst>
              <a:ext uri="{FF2B5EF4-FFF2-40B4-BE49-F238E27FC236}">
                <a16:creationId xmlns:a16="http://schemas.microsoft.com/office/drawing/2014/main" id="{98EF7474-F1F7-47A7-AF33-E38A86EBF6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070" name="Straight Connector 2069">
              <a:extLst>
                <a:ext uri="{FF2B5EF4-FFF2-40B4-BE49-F238E27FC236}">
                  <a16:creationId xmlns:a16="http://schemas.microsoft.com/office/drawing/2014/main" id="{8B14C3B3-01E7-4DD2-80BC-D6605BDB3A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1" name="Straight Connector 2070">
              <a:extLst>
                <a:ext uri="{FF2B5EF4-FFF2-40B4-BE49-F238E27FC236}">
                  <a16:creationId xmlns:a16="http://schemas.microsoft.com/office/drawing/2014/main" id="{29E2ED25-9BE8-462A-BE54-D3E506DBA2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2" name="Straight Connector 2071">
              <a:extLst>
                <a:ext uri="{FF2B5EF4-FFF2-40B4-BE49-F238E27FC236}">
                  <a16:creationId xmlns:a16="http://schemas.microsoft.com/office/drawing/2014/main" id="{33E48329-07A0-4DBB-9D0C-0614AE372F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3" name="Straight Connector 2072">
              <a:extLst>
                <a:ext uri="{FF2B5EF4-FFF2-40B4-BE49-F238E27FC236}">
                  <a16:creationId xmlns:a16="http://schemas.microsoft.com/office/drawing/2014/main" id="{BED609B4-86D5-44D5-8511-42AE9B129B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75" name="Group 2074">
            <a:extLst>
              <a:ext uri="{FF2B5EF4-FFF2-40B4-BE49-F238E27FC236}">
                <a16:creationId xmlns:a16="http://schemas.microsoft.com/office/drawing/2014/main" id="{C912E1BF-76C2-49D5-A5AC-1CE20255C4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076" name="Straight Connector 2075">
              <a:extLst>
                <a:ext uri="{FF2B5EF4-FFF2-40B4-BE49-F238E27FC236}">
                  <a16:creationId xmlns:a16="http://schemas.microsoft.com/office/drawing/2014/main" id="{84E6722B-B0C0-4A43-91F6-6E2D6E2D7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7" name="Straight Connector 2076">
              <a:extLst>
                <a:ext uri="{FF2B5EF4-FFF2-40B4-BE49-F238E27FC236}">
                  <a16:creationId xmlns:a16="http://schemas.microsoft.com/office/drawing/2014/main" id="{C8EAB6DA-9741-4668-8E47-957CD515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8" name="Straight Connector 2077">
              <a:extLst>
                <a:ext uri="{FF2B5EF4-FFF2-40B4-BE49-F238E27FC236}">
                  <a16:creationId xmlns:a16="http://schemas.microsoft.com/office/drawing/2014/main" id="{E36EC6AA-9E44-4DD2-B718-EE04111414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9" name="Straight Connector 2078">
              <a:extLst>
                <a:ext uri="{FF2B5EF4-FFF2-40B4-BE49-F238E27FC236}">
                  <a16:creationId xmlns:a16="http://schemas.microsoft.com/office/drawing/2014/main" id="{138DE653-B3C7-49E5-A3B0-6C00B26083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81" name="Rectangle 2080">
            <a:extLst>
              <a:ext uri="{FF2B5EF4-FFF2-40B4-BE49-F238E27FC236}">
                <a16:creationId xmlns:a16="http://schemas.microsoft.com/office/drawing/2014/main" id="{90AE89EB-4F51-4181-9475-7E1048FB3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83" name="Group 2082">
            <a:extLst>
              <a:ext uri="{FF2B5EF4-FFF2-40B4-BE49-F238E27FC236}">
                <a16:creationId xmlns:a16="http://schemas.microsoft.com/office/drawing/2014/main" id="{B78285A0-9022-40FD-B520-91444BA16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2084" name="Straight Connector 2083">
              <a:extLst>
                <a:ext uri="{FF2B5EF4-FFF2-40B4-BE49-F238E27FC236}">
                  <a16:creationId xmlns:a16="http://schemas.microsoft.com/office/drawing/2014/main" id="{0E2EED1A-F137-41BB-A555-7CDFF9C334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5" name="Straight Connector 2084">
              <a:extLst>
                <a:ext uri="{FF2B5EF4-FFF2-40B4-BE49-F238E27FC236}">
                  <a16:creationId xmlns:a16="http://schemas.microsoft.com/office/drawing/2014/main" id="{3E1EC980-DEDC-41BF-995C-1D471C90E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6" name="Straight Connector 2085">
              <a:extLst>
                <a:ext uri="{FF2B5EF4-FFF2-40B4-BE49-F238E27FC236}">
                  <a16:creationId xmlns:a16="http://schemas.microsoft.com/office/drawing/2014/main" id="{1A2F9486-DC13-4EDD-82CE-7FFC6F4846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7" name="Straight Connector 2086">
              <a:extLst>
                <a:ext uri="{FF2B5EF4-FFF2-40B4-BE49-F238E27FC236}">
                  <a16:creationId xmlns:a16="http://schemas.microsoft.com/office/drawing/2014/main" id="{646A2475-19E5-46B8-B7FE-C2CF42971F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10C9AAB-DBAE-7494-3AB4-C28DAA435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640" y="4038037"/>
            <a:ext cx="5107366" cy="2087424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Food/hygiene safety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4DDB6460-1715-8721-14DD-CCC920C2B5B8}"/>
              </a:ext>
            </a:extLst>
          </p:cNvPr>
          <p:cNvSpPr txBox="1"/>
          <p:nvPr/>
        </p:nvSpPr>
        <p:spPr>
          <a:xfrm>
            <a:off x="6143159" y="4038037"/>
            <a:ext cx="5017030" cy="2087426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4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Active Awareness and Strict Controls</a:t>
            </a:r>
          </a:p>
        </p:txBody>
      </p:sp>
      <p:pic>
        <p:nvPicPr>
          <p:cNvPr id="2050" name="Picture 2" descr="Démarche HACCP hygiène alimentaire | Chronofresh">
            <a:extLst>
              <a:ext uri="{FF2B5EF4-FFF2-40B4-BE49-F238E27FC236}">
                <a16:creationId xmlns:a16="http://schemas.microsoft.com/office/drawing/2014/main" id="{BF62DB1C-DBDA-75C4-9F65-4025203E0C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1359" y="840805"/>
            <a:ext cx="10843065" cy="2819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89" name="Group 2088">
            <a:extLst>
              <a:ext uri="{FF2B5EF4-FFF2-40B4-BE49-F238E27FC236}">
                <a16:creationId xmlns:a16="http://schemas.microsoft.com/office/drawing/2014/main" id="{91CD8CAA-4614-4393-ADD7-7FDFD8ABD7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2" y="776904"/>
            <a:ext cx="304800" cy="429768"/>
            <a:chOff x="215328" y="-46937"/>
            <a:chExt cx="304800" cy="2773841"/>
          </a:xfrm>
        </p:grpSpPr>
        <p:cxnSp>
          <p:nvCxnSpPr>
            <p:cNvPr id="2090" name="Straight Connector 2089">
              <a:extLst>
                <a:ext uri="{FF2B5EF4-FFF2-40B4-BE49-F238E27FC236}">
                  <a16:creationId xmlns:a16="http://schemas.microsoft.com/office/drawing/2014/main" id="{89F5BF84-4D12-40EB-B3CA-72B55341A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1" name="Straight Connector 2090">
              <a:extLst>
                <a:ext uri="{FF2B5EF4-FFF2-40B4-BE49-F238E27FC236}">
                  <a16:creationId xmlns:a16="http://schemas.microsoft.com/office/drawing/2014/main" id="{ACF91815-2B4A-44C8-BAC2-6732AD11A9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2" name="Straight Connector 2091">
              <a:extLst>
                <a:ext uri="{FF2B5EF4-FFF2-40B4-BE49-F238E27FC236}">
                  <a16:creationId xmlns:a16="http://schemas.microsoft.com/office/drawing/2014/main" id="{523960DB-F7E9-40C5-BDC7-9700C71B18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3" name="Straight Connector 2092">
              <a:extLst>
                <a:ext uri="{FF2B5EF4-FFF2-40B4-BE49-F238E27FC236}">
                  <a16:creationId xmlns:a16="http://schemas.microsoft.com/office/drawing/2014/main" id="{A95623C8-E3C3-425E-B186-ADFF5B6702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241647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054">
            <a:extLst>
              <a:ext uri="{FF2B5EF4-FFF2-40B4-BE49-F238E27FC236}">
                <a16:creationId xmlns:a16="http://schemas.microsoft.com/office/drawing/2014/main" id="{17BD7CC6-2F7F-4587-8E92-D041AB2CEB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7" name="Rectangle 2056">
            <a:extLst>
              <a:ext uri="{FF2B5EF4-FFF2-40B4-BE49-F238E27FC236}">
                <a16:creationId xmlns:a16="http://schemas.microsoft.com/office/drawing/2014/main" id="{BE7ED1F4-19EF-4BC2-A6EA-DF1525142B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59" name="Group 2058">
            <a:extLst>
              <a:ext uri="{FF2B5EF4-FFF2-40B4-BE49-F238E27FC236}">
                <a16:creationId xmlns:a16="http://schemas.microsoft.com/office/drawing/2014/main" id="{0EE7C14F-442F-4416-A4A9-6DA10263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2052" name="Oval 2059">
              <a:extLst>
                <a:ext uri="{FF2B5EF4-FFF2-40B4-BE49-F238E27FC236}">
                  <a16:creationId xmlns:a16="http://schemas.microsoft.com/office/drawing/2014/main" id="{97AC4CCD-70AA-4916-97EA-D9C12FED17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3" name="Oval 2060">
              <a:extLst>
                <a:ext uri="{FF2B5EF4-FFF2-40B4-BE49-F238E27FC236}">
                  <a16:creationId xmlns:a16="http://schemas.microsoft.com/office/drawing/2014/main" id="{C5694289-EA59-4679-9DB4-0646321A8C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4" name="Oval 2061">
              <a:extLst>
                <a:ext uri="{FF2B5EF4-FFF2-40B4-BE49-F238E27FC236}">
                  <a16:creationId xmlns:a16="http://schemas.microsoft.com/office/drawing/2014/main" id="{32EDAD0A-6995-496D-9789-A34C66F5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6" name="Oval 2062">
              <a:extLst>
                <a:ext uri="{FF2B5EF4-FFF2-40B4-BE49-F238E27FC236}">
                  <a16:creationId xmlns:a16="http://schemas.microsoft.com/office/drawing/2014/main" id="{BCBBB211-248C-4F94-900A-80CD8D52F3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58" name="Oval 2063">
              <a:extLst>
                <a:ext uri="{FF2B5EF4-FFF2-40B4-BE49-F238E27FC236}">
                  <a16:creationId xmlns:a16="http://schemas.microsoft.com/office/drawing/2014/main" id="{48DCC953-87D5-419D-A529-94A9462512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6" name="Oval 2064">
              <a:extLst>
                <a:ext uri="{FF2B5EF4-FFF2-40B4-BE49-F238E27FC236}">
                  <a16:creationId xmlns:a16="http://schemas.microsoft.com/office/drawing/2014/main" id="{0F67D0B7-A0F4-47EB-8DF7-2630C056AB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67" name="Rectangle 2066">
            <a:extLst>
              <a:ext uri="{FF2B5EF4-FFF2-40B4-BE49-F238E27FC236}">
                <a16:creationId xmlns:a16="http://schemas.microsoft.com/office/drawing/2014/main" id="{A3919D60-F174-4FEB-9E9D-5AF6BD659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69" name="Group 2068">
            <a:extLst>
              <a:ext uri="{FF2B5EF4-FFF2-40B4-BE49-F238E27FC236}">
                <a16:creationId xmlns:a16="http://schemas.microsoft.com/office/drawing/2014/main" id="{98EF7474-F1F7-47A7-AF33-E38A86EBF6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070" name="Straight Connector 2069">
              <a:extLst>
                <a:ext uri="{FF2B5EF4-FFF2-40B4-BE49-F238E27FC236}">
                  <a16:creationId xmlns:a16="http://schemas.microsoft.com/office/drawing/2014/main" id="{8B14C3B3-01E7-4DD2-80BC-D6605BDB3A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1" name="Straight Connector 2070">
              <a:extLst>
                <a:ext uri="{FF2B5EF4-FFF2-40B4-BE49-F238E27FC236}">
                  <a16:creationId xmlns:a16="http://schemas.microsoft.com/office/drawing/2014/main" id="{29E2ED25-9BE8-462A-BE54-D3E506DBA2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2" name="Straight Connector 2071">
              <a:extLst>
                <a:ext uri="{FF2B5EF4-FFF2-40B4-BE49-F238E27FC236}">
                  <a16:creationId xmlns:a16="http://schemas.microsoft.com/office/drawing/2014/main" id="{33E48329-07A0-4DBB-9D0C-0614AE372F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3" name="Straight Connector 2072">
              <a:extLst>
                <a:ext uri="{FF2B5EF4-FFF2-40B4-BE49-F238E27FC236}">
                  <a16:creationId xmlns:a16="http://schemas.microsoft.com/office/drawing/2014/main" id="{BED609B4-86D5-44D5-8511-42AE9B129B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75" name="Group 2074">
            <a:extLst>
              <a:ext uri="{FF2B5EF4-FFF2-40B4-BE49-F238E27FC236}">
                <a16:creationId xmlns:a16="http://schemas.microsoft.com/office/drawing/2014/main" id="{C912E1BF-76C2-49D5-A5AC-1CE20255C4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076" name="Straight Connector 2075">
              <a:extLst>
                <a:ext uri="{FF2B5EF4-FFF2-40B4-BE49-F238E27FC236}">
                  <a16:creationId xmlns:a16="http://schemas.microsoft.com/office/drawing/2014/main" id="{84E6722B-B0C0-4A43-91F6-6E2D6E2D7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7" name="Straight Connector 2076">
              <a:extLst>
                <a:ext uri="{FF2B5EF4-FFF2-40B4-BE49-F238E27FC236}">
                  <a16:creationId xmlns:a16="http://schemas.microsoft.com/office/drawing/2014/main" id="{C8EAB6DA-9741-4668-8E47-957CD515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8" name="Straight Connector 2077">
              <a:extLst>
                <a:ext uri="{FF2B5EF4-FFF2-40B4-BE49-F238E27FC236}">
                  <a16:creationId xmlns:a16="http://schemas.microsoft.com/office/drawing/2014/main" id="{E36EC6AA-9E44-4DD2-B718-EE04111414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9" name="Straight Connector 2078">
              <a:extLst>
                <a:ext uri="{FF2B5EF4-FFF2-40B4-BE49-F238E27FC236}">
                  <a16:creationId xmlns:a16="http://schemas.microsoft.com/office/drawing/2014/main" id="{138DE653-B3C7-49E5-A3B0-6C00B26083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81" name="Rectangle 2080">
            <a:extLst>
              <a:ext uri="{FF2B5EF4-FFF2-40B4-BE49-F238E27FC236}">
                <a16:creationId xmlns:a16="http://schemas.microsoft.com/office/drawing/2014/main" id="{90AE89EB-4F51-4181-9475-7E1048FB3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83" name="Group 2082">
            <a:extLst>
              <a:ext uri="{FF2B5EF4-FFF2-40B4-BE49-F238E27FC236}">
                <a16:creationId xmlns:a16="http://schemas.microsoft.com/office/drawing/2014/main" id="{B78285A0-9022-40FD-B520-91444BA16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2084" name="Straight Connector 2083">
              <a:extLst>
                <a:ext uri="{FF2B5EF4-FFF2-40B4-BE49-F238E27FC236}">
                  <a16:creationId xmlns:a16="http://schemas.microsoft.com/office/drawing/2014/main" id="{0E2EED1A-F137-41BB-A555-7CDFF9C334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5" name="Straight Connector 2084">
              <a:extLst>
                <a:ext uri="{FF2B5EF4-FFF2-40B4-BE49-F238E27FC236}">
                  <a16:creationId xmlns:a16="http://schemas.microsoft.com/office/drawing/2014/main" id="{3E1EC980-DEDC-41BF-995C-1D471C90E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6" name="Straight Connector 2085">
              <a:extLst>
                <a:ext uri="{FF2B5EF4-FFF2-40B4-BE49-F238E27FC236}">
                  <a16:creationId xmlns:a16="http://schemas.microsoft.com/office/drawing/2014/main" id="{1A2F9486-DC13-4EDD-82CE-7FFC6F4846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7" name="Straight Connector 2086">
              <a:extLst>
                <a:ext uri="{FF2B5EF4-FFF2-40B4-BE49-F238E27FC236}">
                  <a16:creationId xmlns:a16="http://schemas.microsoft.com/office/drawing/2014/main" id="{646A2475-19E5-46B8-B7FE-C2CF42971F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1DA7072-7340-E140-6A45-BADD92CD1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556" y="738914"/>
            <a:ext cx="5107366" cy="2087424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Mental health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B63B8B25-B5D9-C6F5-163F-8258A187ACAC}"/>
              </a:ext>
            </a:extLst>
          </p:cNvPr>
          <p:cNvSpPr txBox="1"/>
          <p:nvPr/>
        </p:nvSpPr>
        <p:spPr>
          <a:xfrm>
            <a:off x="6685148" y="5130705"/>
            <a:ext cx="5017030" cy="2087426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4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Exams, pressure to succeed, ..</a:t>
            </a:r>
          </a:p>
        </p:txBody>
      </p:sp>
      <p:pic>
        <p:nvPicPr>
          <p:cNvPr id="2050" name="Picture 2" descr="Coursework 'will deliver less trustworthy grades than exams' in age of  ChatGPT | The Independent">
            <a:extLst>
              <a:ext uri="{FF2B5EF4-FFF2-40B4-BE49-F238E27FC236}">
                <a16:creationId xmlns:a16="http://schemas.microsoft.com/office/drawing/2014/main" id="{D1E68DC1-DBEA-206B-742C-FA15ABFE4F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676305" y="1582356"/>
            <a:ext cx="4891757" cy="3265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89" name="Group 2088">
            <a:extLst>
              <a:ext uri="{FF2B5EF4-FFF2-40B4-BE49-F238E27FC236}">
                <a16:creationId xmlns:a16="http://schemas.microsoft.com/office/drawing/2014/main" id="{91CD8CAA-4614-4393-ADD7-7FDFD8ABD7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2" y="776904"/>
            <a:ext cx="304800" cy="429768"/>
            <a:chOff x="215328" y="-46937"/>
            <a:chExt cx="304800" cy="2773841"/>
          </a:xfrm>
        </p:grpSpPr>
        <p:cxnSp>
          <p:nvCxnSpPr>
            <p:cNvPr id="2090" name="Straight Connector 2089">
              <a:extLst>
                <a:ext uri="{FF2B5EF4-FFF2-40B4-BE49-F238E27FC236}">
                  <a16:creationId xmlns:a16="http://schemas.microsoft.com/office/drawing/2014/main" id="{89F5BF84-4D12-40EB-B3CA-72B55341A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1" name="Straight Connector 2090">
              <a:extLst>
                <a:ext uri="{FF2B5EF4-FFF2-40B4-BE49-F238E27FC236}">
                  <a16:creationId xmlns:a16="http://schemas.microsoft.com/office/drawing/2014/main" id="{ACF91815-2B4A-44C8-BAC2-6732AD11A9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2" name="Straight Connector 2091">
              <a:extLst>
                <a:ext uri="{FF2B5EF4-FFF2-40B4-BE49-F238E27FC236}">
                  <a16:creationId xmlns:a16="http://schemas.microsoft.com/office/drawing/2014/main" id="{523960DB-F7E9-40C5-BDC7-9700C71B18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3" name="Straight Connector 2092">
              <a:extLst>
                <a:ext uri="{FF2B5EF4-FFF2-40B4-BE49-F238E27FC236}">
                  <a16:creationId xmlns:a16="http://schemas.microsoft.com/office/drawing/2014/main" id="{A95623C8-E3C3-425E-B186-ADFF5B6702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ZoneTexte 6">
            <a:extLst>
              <a:ext uri="{FF2B5EF4-FFF2-40B4-BE49-F238E27FC236}">
                <a16:creationId xmlns:a16="http://schemas.microsoft.com/office/drawing/2014/main" id="{6E19FE22-F397-D163-0581-B08AFEE439AE}"/>
              </a:ext>
            </a:extLst>
          </p:cNvPr>
          <p:cNvSpPr txBox="1"/>
          <p:nvPr/>
        </p:nvSpPr>
        <p:spPr>
          <a:xfrm>
            <a:off x="7626487" y="377722"/>
            <a:ext cx="24957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1/5</a:t>
            </a:r>
            <a:br>
              <a:rPr lang="fr-FR" dirty="0">
                <a:solidFill>
                  <a:schemeClr val="bg1"/>
                </a:solidFill>
              </a:rPr>
            </a:br>
            <a:r>
              <a:rPr lang="fr-FR" dirty="0" err="1">
                <a:solidFill>
                  <a:schemeClr val="bg1"/>
                </a:solidFill>
              </a:rPr>
              <a:t>Students</a:t>
            </a:r>
            <a:r>
              <a:rPr lang="fr-FR" dirty="0">
                <a:solidFill>
                  <a:schemeClr val="bg1"/>
                </a:solidFill>
              </a:rPr>
              <a:t> are </a:t>
            </a:r>
            <a:r>
              <a:rPr lang="fr-FR" dirty="0" err="1">
                <a:solidFill>
                  <a:schemeClr val="bg1"/>
                </a:solidFill>
              </a:rPr>
              <a:t>affected</a:t>
            </a:r>
            <a:endParaRPr lang="fr-FR" dirty="0">
              <a:solidFill>
                <a:schemeClr val="bg1"/>
              </a:solidFill>
            </a:endParaRPr>
          </a:p>
          <a:p>
            <a:endParaRPr lang="fr-FR" dirty="0">
              <a:solidFill>
                <a:schemeClr val="bg1"/>
              </a:solidFill>
            </a:endParaRPr>
          </a:p>
        </p:txBody>
      </p:sp>
      <p:pic>
        <p:nvPicPr>
          <p:cNvPr id="9" name="Image 8" descr="Une image contenant habits, personne, chaussures, femme&#10;&#10;Le contenu généré par l’IA peut être incorrect.">
            <a:extLst>
              <a:ext uri="{FF2B5EF4-FFF2-40B4-BE49-F238E27FC236}">
                <a16:creationId xmlns:a16="http://schemas.microsoft.com/office/drawing/2014/main" id="{B71CC677-E8D3-2778-BFD3-231E4CAD7F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5" b="8757"/>
          <a:stretch>
            <a:fillRect/>
          </a:stretch>
        </p:blipFill>
        <p:spPr>
          <a:xfrm>
            <a:off x="855196" y="3700063"/>
            <a:ext cx="4283698" cy="2600976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62688426-FD56-FF86-8FFA-C18454349B7C}"/>
              </a:ext>
            </a:extLst>
          </p:cNvPr>
          <p:cNvSpPr txBox="1"/>
          <p:nvPr/>
        </p:nvSpPr>
        <p:spPr>
          <a:xfrm>
            <a:off x="767835" y="2708645"/>
            <a:ext cx="30319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- </a:t>
            </a:r>
            <a:r>
              <a:rPr lang="fr-FR" dirty="0" err="1">
                <a:solidFill>
                  <a:schemeClr val="bg1"/>
                </a:solidFill>
              </a:rPr>
              <a:t>Awareness</a:t>
            </a:r>
            <a:r>
              <a:rPr lang="fr-FR" dirty="0">
                <a:solidFill>
                  <a:schemeClr val="bg1"/>
                </a:solidFill>
              </a:rPr>
              <a:t> </a:t>
            </a:r>
            <a:r>
              <a:rPr lang="fr-FR" dirty="0" err="1">
                <a:solidFill>
                  <a:schemeClr val="bg1"/>
                </a:solidFill>
              </a:rPr>
              <a:t>campaigns</a:t>
            </a:r>
            <a:br>
              <a:rPr lang="fr-FR" dirty="0">
                <a:solidFill>
                  <a:schemeClr val="bg1"/>
                </a:solidFill>
              </a:rPr>
            </a:br>
            <a:r>
              <a:rPr lang="fr-FR" dirty="0">
                <a:solidFill>
                  <a:schemeClr val="bg1"/>
                </a:solidFill>
              </a:rPr>
              <a:t>- </a:t>
            </a:r>
            <a:r>
              <a:rPr lang="fr-FR" dirty="0" err="1">
                <a:solidFill>
                  <a:schemeClr val="bg1"/>
                </a:solidFill>
              </a:rPr>
              <a:t>Listening</a:t>
            </a:r>
            <a:r>
              <a:rPr lang="fr-FR" dirty="0">
                <a:solidFill>
                  <a:schemeClr val="bg1"/>
                </a:solidFill>
              </a:rPr>
              <a:t> </a:t>
            </a:r>
            <a:r>
              <a:rPr lang="fr-FR" dirty="0" err="1">
                <a:solidFill>
                  <a:schemeClr val="bg1"/>
                </a:solidFill>
              </a:rPr>
              <a:t>spaces</a:t>
            </a:r>
            <a:br>
              <a:rPr lang="fr-FR" dirty="0">
                <a:solidFill>
                  <a:schemeClr val="bg1"/>
                </a:solidFill>
              </a:rPr>
            </a:br>
            <a:r>
              <a:rPr lang="fr-FR" dirty="0">
                <a:solidFill>
                  <a:schemeClr val="bg1"/>
                </a:solidFill>
              </a:rPr>
              <a:t> ..</a:t>
            </a:r>
          </a:p>
        </p:txBody>
      </p:sp>
    </p:spTree>
    <p:extLst>
      <p:ext uri="{BB962C8B-B14F-4D97-AF65-F5344CB8AC3E}">
        <p14:creationId xmlns:p14="http://schemas.microsoft.com/office/powerpoint/2010/main" val="31681617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F72C1B-3452-A3E4-53C4-CEB9028E3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3442" y="679439"/>
            <a:ext cx="5163022" cy="84308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05CA36-AD6A-4ABF-9A05-52E5A143D2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5731496"/>
            <a:ext cx="12192000" cy="112650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4331EE8-85A4-4588-8D9E-70E534D47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5731496"/>
            <a:ext cx="8153398" cy="1126504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D6C862-61CC-4B46-8080-96583D653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731496"/>
            <a:ext cx="12253472" cy="1126504"/>
          </a:xfrm>
          <a:prstGeom prst="rect">
            <a:avLst/>
          </a:prstGeom>
          <a:gradFill>
            <a:gsLst>
              <a:gs pos="39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72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D5FC241A-ED50-E438-5C7C-4135EEA8A8F9}"/>
              </a:ext>
            </a:extLst>
          </p:cNvPr>
          <p:cNvSpPr txBox="1"/>
          <p:nvPr/>
        </p:nvSpPr>
        <p:spPr>
          <a:xfrm>
            <a:off x="1240147" y="2312583"/>
            <a:ext cx="4246187" cy="285438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400" kern="1200" dirty="0">
                <a:latin typeface="+mn-lt"/>
                <a:ea typeface="+mn-ea"/>
                <a:cs typeface="+mn-cs"/>
              </a:rPr>
              <a:t>Safety is omnipresent,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br>
              <a:rPr lang="en-US" sz="2400" kern="1200" dirty="0">
                <a:latin typeface="+mn-lt"/>
                <a:ea typeface="+mn-ea"/>
                <a:cs typeface="+mn-cs"/>
              </a:rPr>
            </a:br>
            <a:r>
              <a:rPr lang="en-US" sz="2400" kern="1200" dirty="0">
                <a:latin typeface="+mn-lt"/>
                <a:ea typeface="+mn-ea"/>
                <a:cs typeface="+mn-cs"/>
              </a:rPr>
              <a:t>- mentally :</a:t>
            </a:r>
            <a:br>
              <a:rPr lang="en-US" sz="2400" kern="1200" dirty="0">
                <a:latin typeface="+mn-lt"/>
                <a:ea typeface="+mn-ea"/>
                <a:cs typeface="+mn-cs"/>
              </a:rPr>
            </a:br>
            <a:r>
              <a:rPr lang="en-US" sz="2400" kern="1200" dirty="0">
                <a:latin typeface="+mn-lt"/>
                <a:ea typeface="+mn-ea"/>
                <a:cs typeface="+mn-cs"/>
              </a:rPr>
              <a:t>	mental health</a:t>
            </a:r>
            <a:br>
              <a:rPr lang="en-US" sz="2400" kern="1200" dirty="0">
                <a:latin typeface="+mn-lt"/>
                <a:ea typeface="+mn-ea"/>
                <a:cs typeface="+mn-cs"/>
              </a:rPr>
            </a:br>
            <a:r>
              <a:rPr lang="en-US" sz="2400" kern="1200" dirty="0">
                <a:latin typeface="+mn-lt"/>
                <a:ea typeface="+mn-ea"/>
                <a:cs typeface="+mn-cs"/>
              </a:rPr>
              <a:t>- physically :</a:t>
            </a:r>
            <a:br>
              <a:rPr lang="en-US" sz="2400" kern="1200" dirty="0">
                <a:latin typeface="+mn-lt"/>
                <a:ea typeface="+mn-ea"/>
                <a:cs typeface="+mn-cs"/>
              </a:rPr>
            </a:br>
            <a:r>
              <a:rPr lang="en-US" sz="2400" kern="1200" dirty="0">
                <a:latin typeface="+mn-lt"/>
                <a:ea typeface="+mn-ea"/>
                <a:cs typeface="+mn-cs"/>
              </a:rPr>
              <a:t>	travel, security, 	</a:t>
            </a:r>
            <a:r>
              <a:rPr lang="en-US" sz="2400" dirty="0"/>
              <a:t>i</a:t>
            </a:r>
            <a:r>
              <a:rPr lang="en-US" sz="2400" kern="1200" dirty="0">
                <a:latin typeface="+mn-lt"/>
                <a:ea typeface="+mn-ea"/>
                <a:cs typeface="+mn-cs"/>
              </a:rPr>
              <a:t>ntruders, …</a:t>
            </a:r>
          </a:p>
        </p:txBody>
      </p:sp>
      <p:pic>
        <p:nvPicPr>
          <p:cNvPr id="5" name="Image 4" descr="Une image contenant Visage humain, habits, personne, sourire&#10;&#10;Le contenu généré par l’IA peut être incorrect.">
            <a:extLst>
              <a:ext uri="{FF2B5EF4-FFF2-40B4-BE49-F238E27FC236}">
                <a16:creationId xmlns:a16="http://schemas.microsoft.com/office/drawing/2014/main" id="{5F6A2D68-BCA2-CF34-D3D7-77D13391A7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917"/>
          <a:stretch>
            <a:fillRect/>
          </a:stretch>
        </p:blipFill>
        <p:spPr>
          <a:xfrm>
            <a:off x="5486334" y="679439"/>
            <a:ext cx="6191317" cy="411908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0797"/>
            <a:ext cx="12191998" cy="457203"/>
          </a:xfrm>
          <a:prstGeom prst="rect">
            <a:avLst/>
          </a:prstGeom>
          <a:gradFill>
            <a:gsLst>
              <a:gs pos="0">
                <a:srgbClr val="000000">
                  <a:alpha val="43000"/>
                </a:srgbClr>
              </a:gs>
              <a:gs pos="79000">
                <a:schemeClr val="accent1">
                  <a:lumMod val="75000"/>
                  <a:alpha val="22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BD64BBF3-01F2-CA15-C117-E9FFE99E75EF}"/>
              </a:ext>
            </a:extLst>
          </p:cNvPr>
          <p:cNvSpPr txBox="1"/>
          <p:nvPr/>
        </p:nvSpPr>
        <p:spPr>
          <a:xfrm>
            <a:off x="295276" y="6110082"/>
            <a:ext cx="11382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How can </a:t>
            </a:r>
            <a:r>
              <a:rPr lang="fr-FR" dirty="0" err="1">
                <a:solidFill>
                  <a:schemeClr val="bg1"/>
                </a:solidFill>
              </a:rPr>
              <a:t>schools</a:t>
            </a:r>
            <a:r>
              <a:rPr lang="fr-FR" dirty="0">
                <a:solidFill>
                  <a:schemeClr val="bg1"/>
                </a:solidFill>
              </a:rPr>
              <a:t> </a:t>
            </a:r>
            <a:r>
              <a:rPr lang="fr-FR" dirty="0" err="1">
                <a:solidFill>
                  <a:schemeClr val="bg1"/>
                </a:solidFill>
              </a:rPr>
              <a:t>guarantee</a:t>
            </a:r>
            <a:r>
              <a:rPr lang="fr-FR" dirty="0">
                <a:solidFill>
                  <a:schemeClr val="bg1"/>
                </a:solidFill>
              </a:rPr>
              <a:t> </a:t>
            </a:r>
            <a:r>
              <a:rPr lang="fr-FR" dirty="0" err="1">
                <a:solidFill>
                  <a:schemeClr val="bg1"/>
                </a:solidFill>
              </a:rPr>
              <a:t>safety</a:t>
            </a:r>
            <a:r>
              <a:rPr lang="fr-FR" dirty="0">
                <a:solidFill>
                  <a:schemeClr val="bg1"/>
                </a:solidFill>
              </a:rPr>
              <a:t> in all aspects of </a:t>
            </a:r>
            <a:r>
              <a:rPr lang="fr-FR" dirty="0" err="1">
                <a:solidFill>
                  <a:schemeClr val="bg1"/>
                </a:solidFill>
              </a:rPr>
              <a:t>school</a:t>
            </a:r>
            <a:r>
              <a:rPr lang="fr-FR" dirty="0">
                <a:solidFill>
                  <a:schemeClr val="bg1"/>
                </a:solidFill>
              </a:rPr>
              <a:t> life </a:t>
            </a:r>
            <a:r>
              <a:rPr lang="fr-FR" dirty="0" err="1">
                <a:solidFill>
                  <a:schemeClr val="bg1"/>
                </a:solidFill>
              </a:rPr>
              <a:t>without</a:t>
            </a:r>
            <a:r>
              <a:rPr lang="fr-FR" dirty="0">
                <a:solidFill>
                  <a:schemeClr val="bg1"/>
                </a:solidFill>
              </a:rPr>
              <a:t> </a:t>
            </a:r>
            <a:r>
              <a:rPr lang="fr-FR" dirty="0" err="1">
                <a:solidFill>
                  <a:schemeClr val="bg1"/>
                </a:solidFill>
              </a:rPr>
              <a:t>negatively</a:t>
            </a:r>
            <a:r>
              <a:rPr lang="fr-FR" dirty="0">
                <a:solidFill>
                  <a:schemeClr val="bg1"/>
                </a:solidFill>
              </a:rPr>
              <a:t> </a:t>
            </a:r>
            <a:r>
              <a:rPr lang="fr-FR" dirty="0" err="1">
                <a:solidFill>
                  <a:schemeClr val="bg1"/>
                </a:solidFill>
              </a:rPr>
              <a:t>affecting</a:t>
            </a:r>
            <a:r>
              <a:rPr lang="fr-FR" dirty="0">
                <a:solidFill>
                  <a:schemeClr val="bg1"/>
                </a:solidFill>
              </a:rPr>
              <a:t> </a:t>
            </a:r>
            <a:r>
              <a:rPr lang="fr-FR" dirty="0" err="1">
                <a:solidFill>
                  <a:schemeClr val="bg1"/>
                </a:solidFill>
              </a:rPr>
              <a:t>student’s</a:t>
            </a:r>
            <a:r>
              <a:rPr lang="fr-FR" dirty="0">
                <a:solidFill>
                  <a:schemeClr val="bg1"/>
                </a:solidFill>
              </a:rPr>
              <a:t> </a:t>
            </a:r>
            <a:r>
              <a:rPr lang="fr-FR" dirty="0" err="1">
                <a:solidFill>
                  <a:schemeClr val="bg1"/>
                </a:solidFill>
              </a:rPr>
              <a:t>well-being</a:t>
            </a:r>
            <a:r>
              <a:rPr lang="fr-FR" dirty="0">
                <a:solidFill>
                  <a:schemeClr val="bg1"/>
                </a:solidFill>
              </a:rPr>
              <a:t> ?</a:t>
            </a:r>
          </a:p>
        </p:txBody>
      </p:sp>
    </p:spTree>
    <p:extLst>
      <p:ext uri="{BB962C8B-B14F-4D97-AF65-F5344CB8AC3E}">
        <p14:creationId xmlns:p14="http://schemas.microsoft.com/office/powerpoint/2010/main" val="23706641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177</Words>
  <Application>Microsoft Office PowerPoint</Application>
  <PresentationFormat>Grand écran</PresentationFormat>
  <Paragraphs>28</Paragraphs>
  <Slides>8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Safety at the heart of student life.  A protective environment for every student</vt:lpstr>
      <vt:lpstr>Contents</vt:lpstr>
      <vt:lpstr>School travel</vt:lpstr>
      <vt:lpstr>Intrusion security</vt:lpstr>
      <vt:lpstr>Présentation PowerPoint</vt:lpstr>
      <vt:lpstr>Food/hygiene safety</vt:lpstr>
      <vt:lpstr>Mental health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BOSSUET Baptiste</dc:creator>
  <cp:lastModifiedBy>BOSSUET Baptiste</cp:lastModifiedBy>
  <cp:revision>7</cp:revision>
  <dcterms:created xsi:type="dcterms:W3CDTF">2026-02-08T17:03:09Z</dcterms:created>
  <dcterms:modified xsi:type="dcterms:W3CDTF">2026-02-09T17:41:32Z</dcterms:modified>
</cp:coreProperties>
</file>