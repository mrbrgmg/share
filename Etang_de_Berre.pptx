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3" r:id="rId3"/>
    <p:sldId id="257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7445"/>
    <a:srgbClr val="A7C6DA"/>
    <a:srgbClr val="DFFC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328893-A1DE-446A-BDD2-BC36CB4F95FB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49F11-A274-4468-8690-7AF5440981F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4154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262CF-01B7-B1E1-B253-84B6213A79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6BCE138-CE73-6EEE-EDC7-A978134BD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B0D534-E3BA-C25E-88EA-8BFCFE354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C807C-1128-4D0E-952D-7A5C86138B04}" type="datetime1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797FB1-EC40-E3EB-2E19-DC03E17F8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17BA1D-89CB-DD12-8F6D-22A26267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2FD8-D52D-4105-9B51-2E6F83A8F1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2157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B82E52-0EBC-980C-E639-909842ABD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FF5BFE-3776-A9DA-B626-7A2C3DF75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C3C9E8-5242-1EC1-DE57-D6553A11E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EC76A-9161-48CD-BC89-9D7308436153}" type="datetime1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AE2B42-A5D2-4E7A-C28B-8AB425C70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0AC259-7EAE-9FA3-DF0B-32B28ED4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2FD8-D52D-4105-9B51-2E6F83A8F1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8748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632E3D-34AF-4C7E-DD1C-753A39DE4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2633BD2-8908-FC45-49EA-D856199EE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B6B2A3-9B76-3162-CA90-FACB2067F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8AA5F-535B-4EC6-B7C4-20273CF73102}" type="datetime1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BE6BAC-295E-2FE1-8066-896D67048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0919E3-52E0-B9F1-D642-FDAA07971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2FD8-D52D-4105-9B51-2E6F83A8F1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4519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0B2F23-2817-013B-EA98-FD54D6739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8A5182-28C0-A8F0-FD5F-8862DA3EBB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9A6F90B-44D0-83F2-5333-79006C390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39149FF-6822-11D6-4201-8203717C6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194E0-69A9-42A8-B154-376F04AC4D1B}" type="datetime1">
              <a:rPr lang="fr-FR" smtClean="0"/>
              <a:t>28/02/2026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382700C-F528-59CA-4AC2-D24FEA52A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5D8489-4345-6756-3383-FC8BF826F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2FD8-D52D-4105-9B51-2E6F83A8F1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6334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26071E-1027-9455-3F50-5DF649572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B5B28A8-2B11-75EA-E3DB-ECA5AFC4C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19D4B1E-27A8-2D19-302F-6BCB0637B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2C28179-8F1C-FA89-8E72-79BD7480D0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94F58C-EE48-0835-DD9E-7A64123476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0118758-CFA9-0516-316D-59D727C1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9465-A74A-46A8-B727-816722851FA2}" type="datetime1">
              <a:rPr lang="fr-FR" smtClean="0"/>
              <a:t>28/02/2026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6D0FE0B-4219-D152-C176-9B5B9AD85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E27B68C-653D-203A-E546-C26E958C0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2FD8-D52D-4105-9B51-2E6F83A8F1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6291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B8EDB6-96B7-7A63-81BB-E6544949A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FD77849-7377-A6B0-B632-717C694A3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390D8-3227-4A0D-BA9A-6182D73EA7EF}" type="datetime1">
              <a:rPr lang="fr-FR" smtClean="0"/>
              <a:t>28/02/2026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8947C56-EF95-B26F-24AC-24F94CFDA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9F7E6C6-3B06-B28E-D69B-6B52F0532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2FD8-D52D-4105-9B51-2E6F83A8F1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1998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468CB19-C5DC-2914-CC0D-E5B0C146F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C197F-E689-4D65-B2EA-6EFB2E73E691}" type="datetime1">
              <a:rPr lang="fr-FR" smtClean="0"/>
              <a:t>28/02/2026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3F89818-1F72-6291-7C2C-1612F5997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4EEC6AB-F64B-65E6-6129-27D279354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2FD8-D52D-4105-9B51-2E6F83A8F1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815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DFCC32-E832-F991-0CA2-42D31AD49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B212C7-E5FE-1AFC-5831-D84E67C2D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3818068-1A94-F62D-EEAE-D23BE4C18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EBC03FB-2705-EE2E-1D1F-D5139E086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E3005-B8E2-4CA0-BD46-580AA0422B83}" type="datetime1">
              <a:rPr lang="fr-FR" smtClean="0"/>
              <a:t>28/02/2026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2363C44-3B87-5879-8CB4-D6401CB45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C5FEF9C-B2B1-B88C-32D9-A0F95FB2F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2FD8-D52D-4105-9B51-2E6F83A8F1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6584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9E57B8-1948-48D4-078D-069962DAD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12B1E44-7A74-8E3D-4D77-BFCC2C7FA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8530427-F1FF-FB67-E105-E9B63B839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159C5A0-89D5-19C4-2BC8-D584F922B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DF41D-FA37-4B17-9963-E551FBA58913}" type="datetime1">
              <a:rPr lang="fr-FR" smtClean="0"/>
              <a:t>28/02/2026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CE62A11-10EF-074E-EBF4-70DACD14F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B93AFEB-ADA9-5373-CAE9-B80F1864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2FD8-D52D-4105-9B51-2E6F83A8F1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4963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3F2D43-843F-5C74-D5E8-6A2FD9A7A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F920417-E215-2FDA-378F-DFAEDDF35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715CED1-8EFC-78AA-5CCA-49987A8C7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F895D-8902-4453-B66C-E53FC206CC48}" type="datetime1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9960DF1-6A98-C2B6-D9F8-7231AE7A9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9295A5-3BFD-9067-3ADA-A7C8A0F11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2FD8-D52D-4105-9B51-2E6F83A8F1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2136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22BFF03-FED8-1869-EF69-CD30437660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03AAC86-FDA2-212C-0296-52E8A90D78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19B7C1-FFCF-B375-806E-58CE9F28E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E8F4C-A246-429A-B1EE-6BB1E2792F8B}" type="datetime1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0A174F-5F2A-97CB-D4C2-31FC63D34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6E5535E-FE58-D7C2-F401-0D552FD8D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2FD8-D52D-4105-9B51-2E6F83A8F1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6162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D0CC6A3-1FC9-06CA-86ED-65D25615B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025F7A-DFC5-A731-882B-049951E90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D8775F-6F2A-F2FC-AB95-C8339CE9DA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52C3B9-36EA-46CD-832B-3979878FC1F3}" type="datetime1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626B51-C187-8F77-86E2-670AE5625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B54F21-7587-6EFB-FF8C-1CBDBDDD67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F92FD8-D52D-4105-9B51-2E6F83A8F1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9019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29C2C85-1492-463C-B805-3FD3FCE93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83D307E-DF68-43F8-97CE-0AAE950A7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71255" y="-1"/>
            <a:ext cx="7649490" cy="5728133"/>
            <a:chOff x="329184" y="1"/>
            <a:chExt cx="524256" cy="5728133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546E3D2-37BF-4528-9851-2B2F62823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28134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52A0C69-DC4E-4FC0-843C-BAA27B3A5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157CF9-CE44-8545-3B95-B17BC496E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EF92FD8-D52D-4105-9B51-2E6F83A8F1BE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</a:t>
            </a:fld>
            <a:r>
              <a:rPr lang="en-US">
                <a:solidFill>
                  <a:schemeClr val="tx1">
                    <a:tint val="75000"/>
                  </a:schemeClr>
                </a:solidFill>
              </a:rPr>
              <a:t>/7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1E9A94-024A-6BD9-352D-AB153C91F8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2" t="4432" b="20805"/>
          <a:stretch>
            <a:fillRect/>
          </a:stretch>
        </p:blipFill>
        <p:spPr>
          <a:xfrm>
            <a:off x="-7714" y="0"/>
            <a:ext cx="12199714" cy="6422043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54376B3-8D21-E1C8-8DE6-AB5657E47A1E}"/>
              </a:ext>
            </a:extLst>
          </p:cNvPr>
          <p:cNvSpPr txBox="1"/>
          <p:nvPr/>
        </p:nvSpPr>
        <p:spPr>
          <a:xfrm>
            <a:off x="1060232" y="749941"/>
            <a:ext cx="10071536" cy="9297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L'Étang</a:t>
            </a:r>
            <a:r>
              <a:rPr lang="en-US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Berre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1C6171D-5A3F-4284-2C00-558B130AEBE5}"/>
              </a:ext>
            </a:extLst>
          </p:cNvPr>
          <p:cNvSpPr txBox="1"/>
          <p:nvPr/>
        </p:nvSpPr>
        <p:spPr>
          <a:xfrm>
            <a:off x="3343280" y="2228671"/>
            <a:ext cx="60944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FR" altLang="fr-FR" dirty="0">
                <a:latin typeface="Arial" panose="020B0604020202020204" pitchFamily="34" charset="0"/>
              </a:rPr>
              <a:t>Un écosystème aquatique lagunaire</a:t>
            </a:r>
          </a:p>
          <a:p>
            <a:pPr>
              <a:spcAft>
                <a:spcPts val="600"/>
              </a:spcAft>
            </a:pPr>
            <a:r>
              <a:rPr lang="fr-FR" altLang="fr-FR" dirty="0">
                <a:latin typeface="Arial" panose="020B0604020202020204" pitchFamily="34" charset="0"/>
              </a:rPr>
              <a:t>Une eau saumâtre et un fond vaseux</a:t>
            </a:r>
          </a:p>
          <a:p>
            <a:pPr>
              <a:spcAft>
                <a:spcPts val="600"/>
              </a:spcAft>
            </a:pPr>
            <a:r>
              <a:rPr lang="fr-FR" altLang="fr-FR" dirty="0">
                <a:latin typeface="Arial" panose="020B0604020202020204" pitchFamily="34" charset="0"/>
              </a:rPr>
              <a:t>Des zones humides riches en espèces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EA6E2CC-B475-961D-33AE-B2D82514B155}"/>
              </a:ext>
            </a:extLst>
          </p:cNvPr>
          <p:cNvSpPr txBox="1"/>
          <p:nvPr/>
        </p:nvSpPr>
        <p:spPr>
          <a:xfrm>
            <a:off x="1060232" y="4943175"/>
            <a:ext cx="10071536" cy="4483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000" kern="1200" dirty="0" err="1">
                <a:solidFill>
                  <a:schemeClr val="tx1"/>
                </a:solidFill>
                <a:highlight>
                  <a:srgbClr val="C0C0C0"/>
                </a:highlight>
                <a:latin typeface="+mn-lt"/>
                <a:ea typeface="+mn-ea"/>
                <a:cs typeface="+mn-cs"/>
              </a:rPr>
              <a:t>Découvrons</a:t>
            </a:r>
            <a:r>
              <a:rPr lang="en-US" sz="2000" kern="1200" dirty="0">
                <a:solidFill>
                  <a:schemeClr val="tx1"/>
                </a:solidFill>
                <a:highlight>
                  <a:srgbClr val="C0C0C0"/>
                </a:highlight>
                <a:latin typeface="+mn-lt"/>
                <a:ea typeface="+mn-ea"/>
                <a:cs typeface="+mn-cs"/>
              </a:rPr>
              <a:t> ensemble </a:t>
            </a:r>
            <a:r>
              <a:rPr lang="en-US" sz="2000" kern="1200" dirty="0" err="1">
                <a:solidFill>
                  <a:schemeClr val="tx1"/>
                </a:solidFill>
                <a:highlight>
                  <a:srgbClr val="C0C0C0"/>
                </a:highlight>
                <a:latin typeface="+mn-lt"/>
                <a:ea typeface="+mn-ea"/>
                <a:cs typeface="+mn-cs"/>
              </a:rPr>
              <a:t>sa</a:t>
            </a:r>
            <a:r>
              <a:rPr lang="en-US" sz="2000" kern="1200" dirty="0">
                <a:solidFill>
                  <a:schemeClr val="tx1"/>
                </a:solidFill>
                <a:highlight>
                  <a:srgbClr val="C0C0C0"/>
                </a:highlight>
                <a:latin typeface="+mn-lt"/>
                <a:ea typeface="+mn-ea"/>
                <a:cs typeface="+mn-cs"/>
              </a:rPr>
              <a:t> structure, son </a:t>
            </a:r>
            <a:r>
              <a:rPr lang="en-US" sz="2000" kern="1200" dirty="0" err="1">
                <a:solidFill>
                  <a:schemeClr val="tx1"/>
                </a:solidFill>
                <a:highlight>
                  <a:srgbClr val="C0C0C0"/>
                </a:highlight>
                <a:latin typeface="+mn-lt"/>
                <a:ea typeface="+mn-ea"/>
                <a:cs typeface="+mn-cs"/>
              </a:rPr>
              <a:t>fonctionnement</a:t>
            </a:r>
            <a:r>
              <a:rPr lang="en-US" sz="2000" kern="1200" dirty="0">
                <a:solidFill>
                  <a:schemeClr val="tx1"/>
                </a:solidFill>
                <a:highlight>
                  <a:srgbClr val="C0C0C0"/>
                </a:highlight>
                <a:latin typeface="+mn-lt"/>
                <a:ea typeface="+mn-ea"/>
                <a:cs typeface="+mn-cs"/>
              </a:rPr>
              <a:t> et les </a:t>
            </a:r>
            <a:r>
              <a:rPr lang="en-US" sz="2000" kern="1200" dirty="0" err="1">
                <a:solidFill>
                  <a:schemeClr val="tx1"/>
                </a:solidFill>
                <a:highlight>
                  <a:srgbClr val="C0C0C0"/>
                </a:highlight>
                <a:latin typeface="+mn-lt"/>
                <a:ea typeface="+mn-ea"/>
                <a:cs typeface="+mn-cs"/>
              </a:rPr>
              <a:t>espèces</a:t>
            </a:r>
            <a:r>
              <a:rPr lang="en-US" sz="2000" kern="1200" dirty="0">
                <a:solidFill>
                  <a:schemeClr val="tx1"/>
                </a:solidFill>
                <a:highlight>
                  <a:srgbClr val="C0C0C0"/>
                </a:highlight>
                <a:latin typeface="+mn-lt"/>
                <a:ea typeface="+mn-ea"/>
                <a:cs typeface="+mn-cs"/>
              </a:rPr>
              <a:t> qui le </a:t>
            </a:r>
            <a:r>
              <a:rPr lang="en-US" sz="2000" kern="1200" dirty="0" err="1">
                <a:solidFill>
                  <a:schemeClr val="tx1"/>
                </a:solidFill>
                <a:highlight>
                  <a:srgbClr val="C0C0C0"/>
                </a:highlight>
                <a:latin typeface="+mn-lt"/>
                <a:ea typeface="+mn-ea"/>
                <a:cs typeface="+mn-cs"/>
              </a:rPr>
              <a:t>peuplent</a:t>
            </a:r>
            <a:r>
              <a:rPr lang="en-US" sz="2000" kern="1200" dirty="0">
                <a:solidFill>
                  <a:schemeClr val="tx1"/>
                </a:solidFill>
                <a:highlight>
                  <a:srgbClr val="C0C0C0"/>
                </a:highlight>
                <a:latin typeface="+mn-lt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8605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E1C24BA-4E92-CEDB-EE42-BD4D0EAC1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6" y="1188637"/>
            <a:ext cx="3291839" cy="44807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Sommaire</a:t>
            </a:r>
            <a:r>
              <a:rPr lang="en-US" sz="5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: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ADC65733-A491-0FBA-BF8D-6DCB634AE70B}"/>
              </a:ext>
            </a:extLst>
          </p:cNvPr>
          <p:cNvSpPr txBox="1"/>
          <p:nvPr/>
        </p:nvSpPr>
        <p:spPr>
          <a:xfrm>
            <a:off x="5255260" y="1648870"/>
            <a:ext cx="4702848" cy="35602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Introduction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Localisation</a:t>
            </a:r>
            <a:r>
              <a:rPr lang="en-US" sz="2400" dirty="0"/>
              <a:t> </a:t>
            </a:r>
            <a:r>
              <a:rPr lang="en-US" sz="2400" dirty="0" err="1"/>
              <a:t>géographique</a:t>
            </a:r>
            <a:r>
              <a:rPr lang="en-US" sz="2400" dirty="0"/>
              <a:t>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Facteurs</a:t>
            </a:r>
            <a:r>
              <a:rPr lang="en-US" sz="2400" dirty="0"/>
              <a:t> </a:t>
            </a:r>
            <a:r>
              <a:rPr lang="en-US" sz="2400" dirty="0" err="1"/>
              <a:t>physico-chimiques</a:t>
            </a:r>
            <a:r>
              <a:rPr lang="en-US" sz="2400" dirty="0"/>
              <a:t>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Fonctionnement</a:t>
            </a:r>
            <a:r>
              <a:rPr lang="en-US" sz="2400" dirty="0"/>
              <a:t>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Espèces</a:t>
            </a:r>
            <a:r>
              <a:rPr lang="en-US" sz="2400" dirty="0"/>
              <a:t> </a:t>
            </a:r>
            <a:r>
              <a:rPr lang="en-US" sz="2400" dirty="0" err="1"/>
              <a:t>particulières</a:t>
            </a:r>
            <a:r>
              <a:rPr lang="en-US" sz="2400" dirty="0"/>
              <a:t>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Conclusions : menaces, etc.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C9A3FD-D921-F0E8-372A-8949E2322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2FD8-D52D-4105-9B51-2E6F83A8F1BE}" type="slidenum">
              <a:rPr lang="fr-FR" smtClean="0"/>
              <a:t>2</a:t>
            </a:fld>
            <a:r>
              <a:rPr lang="fr-FR" dirty="0"/>
              <a:t>/7</a:t>
            </a:r>
          </a:p>
        </p:txBody>
      </p:sp>
    </p:spTree>
    <p:extLst>
      <p:ext uri="{BB962C8B-B14F-4D97-AF65-F5344CB8AC3E}">
        <p14:creationId xmlns:p14="http://schemas.microsoft.com/office/powerpoint/2010/main" val="2694419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2" name="Rectangle 1041">
            <a:extLst>
              <a:ext uri="{FF2B5EF4-FFF2-40B4-BE49-F238E27FC236}">
                <a16:creationId xmlns:a16="http://schemas.microsoft.com/office/drawing/2014/main" id="{1612B638-AF29-4A83-BFB3-49BF0745B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59B9B09-1655-B60E-EE78-0641B5598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Situation </a:t>
            </a:r>
            <a:r>
              <a:rPr lang="en-US" sz="4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géographique</a:t>
            </a:r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/</a:t>
            </a:r>
            <a:r>
              <a:rPr lang="en-US" sz="4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Localisation</a:t>
            </a:r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géographique</a:t>
            </a:r>
            <a:endParaRPr lang="en-US" sz="4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4CEE21-F82D-44EA-A018-E99E5BB8B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0" r="3" b="3802"/>
          <a:stretch>
            <a:fillRect/>
          </a:stretch>
        </p:blipFill>
        <p:spPr>
          <a:xfrm>
            <a:off x="635295" y="2524715"/>
            <a:ext cx="2743200" cy="3714244"/>
          </a:xfrm>
          <a:prstGeom prst="rect">
            <a:avLst/>
          </a:prstGeom>
        </p:spPr>
      </p:pic>
      <p:pic>
        <p:nvPicPr>
          <p:cNvPr id="1028" name="Picture 4" descr="ROAD MAP BERRE-L'ETANG : maps of Berre-l'Étang 13130">
            <a:extLst>
              <a:ext uri="{FF2B5EF4-FFF2-40B4-BE49-F238E27FC236}">
                <a16:creationId xmlns:a16="http://schemas.microsoft.com/office/drawing/2014/main" id="{CDCA660D-2827-68E3-4B54-C309FDC83C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82" r="16452" b="-3"/>
          <a:stretch>
            <a:fillRect/>
          </a:stretch>
        </p:blipFill>
        <p:spPr bwMode="auto">
          <a:xfrm>
            <a:off x="3622965" y="2524715"/>
            <a:ext cx="2743200" cy="3714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B8AD185-3A19-0814-58CF-136F42DDF7A5}"/>
              </a:ext>
            </a:extLst>
          </p:cNvPr>
          <p:cNvSpPr txBox="1"/>
          <p:nvPr/>
        </p:nvSpPr>
        <p:spPr>
          <a:xfrm>
            <a:off x="6882937" y="2599509"/>
            <a:ext cx="4054389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Région :PACA, département des Bouches-du-Rhône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Miramas, Istres et Martigues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Superficie : environ 155 km²ds</a:t>
            </a:r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2FC700-2D83-DBB4-4630-2B43A616F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2FD8-D52D-4105-9B51-2E6F83A8F1BE}" type="slidenum">
              <a:rPr lang="fr-FR" smtClean="0"/>
              <a:t>3</a:t>
            </a:fld>
            <a:r>
              <a:rPr lang="fr-FR" dirty="0"/>
              <a:t>/7</a:t>
            </a:r>
          </a:p>
        </p:txBody>
      </p:sp>
    </p:spTree>
    <p:extLst>
      <p:ext uri="{BB962C8B-B14F-4D97-AF65-F5344CB8AC3E}">
        <p14:creationId xmlns:p14="http://schemas.microsoft.com/office/powerpoint/2010/main" val="3892700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3671BB-EB0E-B25A-E0D4-6B831B5A3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Facteurs physico-chimiques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2F107F-878D-0600-2AD1-299F32E74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32" y="1623576"/>
            <a:ext cx="11954535" cy="697548"/>
          </a:xfrm>
          <a:prstGeom prst="rect">
            <a:avLst/>
          </a:prstGeom>
        </p:spPr>
      </p:pic>
      <p:pic>
        <p:nvPicPr>
          <p:cNvPr id="2051" name="Picture 3" descr="La modélisation de l'étang de Berre - GIPREB - Etang de Berre">
            <a:extLst>
              <a:ext uri="{FF2B5EF4-FFF2-40B4-BE49-F238E27FC236}">
                <a16:creationId xmlns:a16="http://schemas.microsoft.com/office/drawing/2014/main" id="{FD624800-DA29-64A6-8C99-89EFC974EE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70" t="-311" r="782" b="35971"/>
          <a:stretch>
            <a:fillRect/>
          </a:stretch>
        </p:blipFill>
        <p:spPr bwMode="auto">
          <a:xfrm>
            <a:off x="3460358" y="2321124"/>
            <a:ext cx="5271283" cy="417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1E8C18-E2B9-41CC-2DD3-90D23CF94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EF92FD8-D52D-4105-9B51-2E6F83A8F1BE}" type="slidenum">
              <a:rPr lang="fr-FR" smtClean="0"/>
              <a:t>4</a:t>
            </a:fld>
            <a:r>
              <a:rPr lang="fr-FR" dirty="0"/>
              <a:t>/7</a:t>
            </a:r>
          </a:p>
        </p:txBody>
      </p:sp>
    </p:spTree>
    <p:extLst>
      <p:ext uri="{BB962C8B-B14F-4D97-AF65-F5344CB8AC3E}">
        <p14:creationId xmlns:p14="http://schemas.microsoft.com/office/powerpoint/2010/main" val="1355411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D023EDD-0F95-C681-0B21-BF8A01F5F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Fonctionnement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6F8FF4-27EB-BABA-7271-34D0649A7BE8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Un </a:t>
            </a:r>
            <a:r>
              <a:rPr lang="en-US" sz="1400" dirty="0" err="1"/>
              <a:t>complexe</a:t>
            </a:r>
            <a:r>
              <a:rPr lang="en-US" sz="1400" dirty="0"/>
              <a:t> </a:t>
            </a:r>
            <a:r>
              <a:rPr lang="en-US" sz="1400" dirty="0" err="1"/>
              <a:t>connecté</a:t>
            </a:r>
            <a:r>
              <a:rPr lang="en-US" sz="1400" dirty="0"/>
              <a:t> : Berre, </a:t>
            </a:r>
            <a:r>
              <a:rPr lang="en-US" sz="1400" dirty="0" err="1"/>
              <a:t>Vaïne</a:t>
            </a:r>
            <a:r>
              <a:rPr lang="en-US" sz="1400" dirty="0"/>
              <a:t>, </a:t>
            </a:r>
            <a:r>
              <a:rPr lang="en-US" sz="1400" dirty="0" err="1"/>
              <a:t>Bolmon</a:t>
            </a:r>
            <a:r>
              <a:rPr lang="en-US" sz="1400" dirty="0"/>
              <a:t> et </a:t>
            </a:r>
            <a:r>
              <a:rPr lang="en-US" sz="1400" dirty="0" err="1"/>
              <a:t>l'Olivier</a:t>
            </a:r>
            <a:r>
              <a:rPr lang="en-US" sz="14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Trois sources </a:t>
            </a:r>
            <a:r>
              <a:rPr lang="en-US" sz="1400" dirty="0" err="1"/>
              <a:t>d'eau</a:t>
            </a:r>
            <a:r>
              <a:rPr lang="en-US" sz="1400" dirty="0"/>
              <a:t> :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Bauhaus 93" panose="04030905020B02020C02" pitchFamily="82" charset="0"/>
              <a:buChar char="–"/>
            </a:pPr>
            <a:r>
              <a:rPr lang="en-US" sz="1400" dirty="0"/>
              <a:t>Rivières + nutriments.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Bauhaus 93" panose="04030905020B02020C02" pitchFamily="82" charset="0"/>
              <a:buChar char="–"/>
            </a:pPr>
            <a:r>
              <a:rPr lang="en-US" sz="1400" dirty="0"/>
              <a:t>Canal de </a:t>
            </a:r>
            <a:r>
              <a:rPr lang="en-US" sz="1400" dirty="0" err="1"/>
              <a:t>Caronte</a:t>
            </a:r>
            <a:r>
              <a:rPr lang="en-US" sz="1400" dirty="0"/>
              <a:t>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Bauhaus 93" panose="04030905020B02020C02" pitchFamily="82" charset="0"/>
              <a:buChar char="–"/>
            </a:pPr>
            <a:r>
              <a:rPr lang="en-US" sz="1400" dirty="0"/>
              <a:t>Canal de Durance.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Conséquence</a:t>
            </a:r>
            <a:r>
              <a:rPr lang="en-US" sz="1400" dirty="0"/>
              <a:t> : Un </a:t>
            </a:r>
            <a:r>
              <a:rPr lang="en-US" sz="1400" dirty="0" err="1"/>
              <a:t>équilibre</a:t>
            </a:r>
            <a:r>
              <a:rPr lang="en-US" sz="1400" dirty="0"/>
              <a:t> fragile.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71CB7CA-F418-473A-D8CD-99456D4F5C47}"/>
              </a:ext>
            </a:extLst>
          </p:cNvPr>
          <p:cNvGrpSpPr/>
          <p:nvPr/>
        </p:nvGrpSpPr>
        <p:grpSpPr>
          <a:xfrm>
            <a:off x="6099048" y="1657196"/>
            <a:ext cx="5458968" cy="3543608"/>
            <a:chOff x="6099048" y="1657196"/>
            <a:chExt cx="5458968" cy="3543608"/>
          </a:xfrm>
        </p:grpSpPr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06397786-FF27-2B41-1010-241BB7377D46}"/>
                </a:ext>
              </a:extLst>
            </p:cNvPr>
            <p:cNvGrpSpPr>
              <a:grpSpLocks/>
            </p:cNvGrpSpPr>
            <p:nvPr/>
          </p:nvGrpSpPr>
          <p:grpSpPr>
            <a:xfrm>
              <a:off x="6099048" y="1657196"/>
              <a:ext cx="5458968" cy="3543608"/>
              <a:chOff x="962019" y="3009901"/>
              <a:chExt cx="4711516" cy="3058411"/>
            </a:xfrm>
          </p:grpSpPr>
          <p:pic>
            <p:nvPicPr>
              <p:cNvPr id="4" name="Picture 2" descr="Aperçu géographique - GIPREB - Etang de Berre">
                <a:extLst>
                  <a:ext uri="{FF2B5EF4-FFF2-40B4-BE49-F238E27FC236}">
                    <a16:creationId xmlns:a16="http://schemas.microsoft.com/office/drawing/2014/main" id="{6585CBF3-A72D-160F-5A35-89F3691D83D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298" r="2" b="2"/>
              <a:stretch>
                <a:fillRect/>
              </a:stretch>
            </p:blipFill>
            <p:spPr bwMode="auto">
              <a:xfrm>
                <a:off x="962019" y="3133746"/>
                <a:ext cx="4711516" cy="29345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Ellipse 4">
                <a:extLst>
                  <a:ext uri="{FF2B5EF4-FFF2-40B4-BE49-F238E27FC236}">
                    <a16:creationId xmlns:a16="http://schemas.microsoft.com/office/drawing/2014/main" id="{DDE45A21-48AB-7D02-14EE-7CF3B7AF93D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52525" y="3009901"/>
                <a:ext cx="1295400" cy="1266824"/>
              </a:xfrm>
              <a:prstGeom prst="ellipse">
                <a:avLst/>
              </a:prstGeom>
              <a:solidFill>
                <a:srgbClr val="DFFCB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E3F82C8-F12A-73A4-CD7E-930A3046C50C}"/>
                </a:ext>
              </a:extLst>
            </p:cNvPr>
            <p:cNvSpPr>
              <a:spLocks/>
            </p:cNvSpPr>
            <p:nvPr/>
          </p:nvSpPr>
          <p:spPr>
            <a:xfrm>
              <a:off x="6400800" y="1657196"/>
              <a:ext cx="1249699" cy="1434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1798A7-3D1D-69D6-8A86-6BF1EEA89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2FD8-D52D-4105-9B51-2E6F83A8F1BE}" type="slidenum">
              <a:rPr lang="fr-FR" smtClean="0"/>
              <a:t>5</a:t>
            </a:fld>
            <a:r>
              <a:rPr lang="fr-FR" dirty="0"/>
              <a:t>/7</a:t>
            </a:r>
          </a:p>
        </p:txBody>
      </p:sp>
    </p:spTree>
    <p:extLst>
      <p:ext uri="{BB962C8B-B14F-4D97-AF65-F5344CB8AC3E}">
        <p14:creationId xmlns:p14="http://schemas.microsoft.com/office/powerpoint/2010/main" val="2685238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CA03906-8C5A-65D0-B2F5-336CDFA6C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fr-FR" sz="4800"/>
              <a:t>Espèces particulières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F5702A04-8330-5D02-45ED-7A098202B7F0}"/>
              </a:ext>
            </a:extLst>
          </p:cNvPr>
          <p:cNvGrpSpPr/>
          <p:nvPr/>
        </p:nvGrpSpPr>
        <p:grpSpPr>
          <a:xfrm>
            <a:off x="2790635" y="3017519"/>
            <a:ext cx="6606374" cy="3209902"/>
            <a:chOff x="2843719" y="1272617"/>
            <a:chExt cx="9753600" cy="473907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8D13FFC-C65D-AC98-F59B-BDC4120F0C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0835"/>
            <a:stretch>
              <a:fillRect/>
            </a:stretch>
          </p:blipFill>
          <p:spPr>
            <a:xfrm>
              <a:off x="2843719" y="1272617"/>
              <a:ext cx="9753600" cy="4739075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9DDB199-E0E7-97E4-E9A9-6412018C4CC2}"/>
                </a:ext>
              </a:extLst>
            </p:cNvPr>
            <p:cNvSpPr/>
            <p:nvPr/>
          </p:nvSpPr>
          <p:spPr>
            <a:xfrm>
              <a:off x="2889115" y="5739319"/>
              <a:ext cx="1284051" cy="233464"/>
            </a:xfrm>
            <a:prstGeom prst="rect">
              <a:avLst/>
            </a:prstGeom>
            <a:solidFill>
              <a:srgbClr val="A7C6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6A08DB-1292-9692-318A-0B98F6AD3E0A}"/>
                </a:ext>
              </a:extLst>
            </p:cNvPr>
            <p:cNvSpPr/>
            <p:nvPr/>
          </p:nvSpPr>
          <p:spPr>
            <a:xfrm>
              <a:off x="9615339" y="2384981"/>
              <a:ext cx="744718" cy="207390"/>
            </a:xfrm>
            <a:prstGeom prst="rect">
              <a:avLst/>
            </a:prstGeom>
            <a:solidFill>
              <a:srgbClr val="7874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7A218E-5F82-EEAA-47E6-3132D3568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2FD8-D52D-4105-9B51-2E6F83A8F1BE}" type="slidenum">
              <a:rPr lang="fr-FR" smtClean="0"/>
              <a:t>6</a:t>
            </a:fld>
            <a:r>
              <a:rPr lang="fr-FR" dirty="0"/>
              <a:t>/7</a:t>
            </a:r>
          </a:p>
        </p:txBody>
      </p:sp>
    </p:spTree>
    <p:extLst>
      <p:ext uri="{BB962C8B-B14F-4D97-AF65-F5344CB8AC3E}">
        <p14:creationId xmlns:p14="http://schemas.microsoft.com/office/powerpoint/2010/main" val="1793381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90BBAB-A770-0FAB-8366-A43E26F208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20" t="6483" r="27259" b="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B5FFB2C-785C-91C4-4063-B9CF00269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0" y="625683"/>
            <a:ext cx="4023360" cy="21678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Conclusions : menaces et </a:t>
            </a:r>
            <a:r>
              <a:rPr lang="en-US" sz="4800" dirty="0" err="1"/>
              <a:t>enjeux</a:t>
            </a:r>
            <a:endParaRPr lang="en-US" sz="4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76AE04-8953-C79F-E922-2B70C997C4E4}"/>
              </a:ext>
            </a:extLst>
          </p:cNvPr>
          <p:cNvSpPr txBox="1"/>
          <p:nvPr/>
        </p:nvSpPr>
        <p:spPr>
          <a:xfrm>
            <a:off x="477980" y="4951191"/>
            <a:ext cx="4023359" cy="1208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dirty="0" err="1"/>
              <a:t>Enjeu</a:t>
            </a:r>
            <a:r>
              <a:rPr lang="en-US" sz="2000" b="1" dirty="0"/>
              <a:t> </a:t>
            </a:r>
            <a:r>
              <a:rPr lang="en-US" sz="2000" b="1" dirty="0" err="1"/>
              <a:t>majeur</a:t>
            </a:r>
            <a:r>
              <a:rPr lang="en-US" sz="2000" b="1" dirty="0"/>
              <a:t> :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 err="1"/>
              <a:t>Concilier</a:t>
            </a:r>
            <a:r>
              <a:rPr lang="en-US" sz="2000" dirty="0"/>
              <a:t> </a:t>
            </a:r>
            <a:r>
              <a:rPr lang="en-US" sz="2000" dirty="0" err="1"/>
              <a:t>activités</a:t>
            </a:r>
            <a:r>
              <a:rPr lang="en-US" sz="2000" dirty="0"/>
              <a:t> </a:t>
            </a:r>
            <a:r>
              <a:rPr lang="en-US" sz="2000" dirty="0" err="1"/>
              <a:t>économiques</a:t>
            </a:r>
            <a:r>
              <a:rPr lang="en-US" sz="2000" dirty="0"/>
              <a:t> et </a:t>
            </a:r>
            <a:r>
              <a:rPr lang="en-US" sz="2000" dirty="0" err="1"/>
              <a:t>préservation</a:t>
            </a:r>
            <a:r>
              <a:rPr lang="en-US" sz="2000" dirty="0"/>
              <a:t> de </a:t>
            </a:r>
            <a:r>
              <a:rPr lang="en-US" sz="2000" dirty="0" err="1"/>
              <a:t>l’Étang</a:t>
            </a:r>
            <a:r>
              <a:rPr lang="en-US" sz="2000" dirty="0"/>
              <a:t> de Berre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C870E7-739A-5160-E64D-33D1F998C571}"/>
              </a:ext>
            </a:extLst>
          </p:cNvPr>
          <p:cNvSpPr txBox="1"/>
          <p:nvPr/>
        </p:nvSpPr>
        <p:spPr>
          <a:xfrm>
            <a:off x="500840" y="2931538"/>
            <a:ext cx="39776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Écosystème riche mais fragile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Forte dégradation au XXe siècle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Baisse de salinité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Pollutions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Urbanisation et trafic maritime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B1636F-86F0-0213-3014-0B0800232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2FD8-D52D-4105-9B51-2E6F83A8F1BE}" type="slidenum">
              <a:rPr lang="fr-FR" smtClean="0"/>
              <a:t>7</a:t>
            </a:fld>
            <a:r>
              <a:rPr lang="fr-FR" dirty="0"/>
              <a:t>/7</a:t>
            </a:r>
          </a:p>
        </p:txBody>
      </p:sp>
    </p:spTree>
    <p:extLst>
      <p:ext uri="{BB962C8B-B14F-4D97-AF65-F5344CB8AC3E}">
        <p14:creationId xmlns:p14="http://schemas.microsoft.com/office/powerpoint/2010/main" val="173917008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152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Bauhaus 93</vt:lpstr>
      <vt:lpstr>Calibri</vt:lpstr>
      <vt:lpstr>Thème Office</vt:lpstr>
      <vt:lpstr>PowerPoint Presentation</vt:lpstr>
      <vt:lpstr>Sommaire :</vt:lpstr>
      <vt:lpstr>Situation géographique/Localisation géographique</vt:lpstr>
      <vt:lpstr>Facteurs physico-chimiques</vt:lpstr>
      <vt:lpstr>Fonctionnement</vt:lpstr>
      <vt:lpstr>Espèces particulières</vt:lpstr>
      <vt:lpstr>Conclusions : menaces et enjeux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BOSSUET Baptiste</dc:creator>
  <cp:lastModifiedBy>BOSSUET Baptiste</cp:lastModifiedBy>
  <cp:revision>7</cp:revision>
  <dcterms:created xsi:type="dcterms:W3CDTF">2026-02-24T07:52:53Z</dcterms:created>
  <dcterms:modified xsi:type="dcterms:W3CDTF">2026-02-28T17:41:33Z</dcterms:modified>
</cp:coreProperties>
</file>